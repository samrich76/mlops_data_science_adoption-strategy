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1"/>
  </p:notesMasterIdLst>
  <p:sldIdLst>
    <p:sldId id="256" r:id="rId2"/>
    <p:sldId id="257" r:id="rId3"/>
    <p:sldId id="262" r:id="rId4"/>
    <p:sldId id="258" r:id="rId5"/>
    <p:sldId id="265" r:id="rId6"/>
    <p:sldId id="259" r:id="rId7"/>
    <p:sldId id="260" r:id="rId8"/>
    <p:sldId id="261" r:id="rId9"/>
    <p:sldId id="264" r:id="rId10"/>
  </p:sldIdLst>
  <p:sldSz cx="9144000" cy="5143500" type="screen16x9"/>
  <p:notesSz cx="6858000" cy="9144000"/>
  <p:embeddedFontLst>
    <p:embeddedFont>
      <p:font typeface="Lato" panose="020F0502020204030203" pitchFamily="34" charset="0"/>
      <p:regular r:id="rId12"/>
      <p:bold r:id="rId13"/>
      <p:italic r:id="rId14"/>
      <p:boldItalic r:id="rId15"/>
    </p:embeddedFont>
    <p:embeddedFont>
      <p:font typeface="Questrial" pitchFamily="2" charset="0"/>
      <p:regular r:id="rId16"/>
    </p:embeddedFont>
    <p:embeddedFont>
      <p:font typeface="Raleway"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C65776-282E-4D7A-92DA-6DF953E9000F}">
  <a:tblStyle styleId="{58C65776-282E-4D7A-92DA-6DF953E9000F}" styleName="Table_0">
    <a:wholeTbl>
      <a:tcTxStyle b="off" i="off">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176FB817-399E-4E18-9760-935D84C4852A}"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4" d="100"/>
          <a:sy n="134" d="100"/>
        </p:scale>
        <p:origin x="348"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f71f814962_2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f71f814962_2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f71f814962_2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f71f814962_2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f71f814962_2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f71f814962_2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40088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f71f814962_2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gf71f814962_2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f71f814962_2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f71f814962_2_1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f71f814962_2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f71f814962_2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f71f814962_2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f71f814962_2_1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f71f814962_2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f71f814962_2_1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9614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4"/>
          <p:cNvSpPr/>
          <p:nvPr/>
        </p:nvSpPr>
        <p:spPr>
          <a:xfrm>
            <a:off x="0" y="0"/>
            <a:ext cx="9144000" cy="732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1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57" name="Google Shape;57;p1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58"/>
        <p:cNvGrpSpPr/>
        <p:nvPr/>
      </p:nvGrpSpPr>
      <p:grpSpPr>
        <a:xfrm>
          <a:off x="0" y="0"/>
          <a:ext cx="0" cy="0"/>
          <a:chOff x="0" y="0"/>
          <a:chExt cx="0" cy="0"/>
        </a:xfrm>
      </p:grpSpPr>
      <p:sp>
        <p:nvSpPr>
          <p:cNvPr id="59" name="Google Shape;59;p15"/>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4200"/>
              <a:buNone/>
              <a:defRPr sz="4200">
                <a:solidFill>
                  <a:schemeClr val="dk2"/>
                </a:solidFill>
              </a:defRPr>
            </a:lvl1pPr>
            <a:lvl2pPr lvl="1" algn="l">
              <a:lnSpc>
                <a:spcPct val="100000"/>
              </a:lnSpc>
              <a:spcBef>
                <a:spcPts val="0"/>
              </a:spcBef>
              <a:spcAft>
                <a:spcPts val="0"/>
              </a:spcAft>
              <a:buClr>
                <a:schemeClr val="dk2"/>
              </a:buClr>
              <a:buSzPts val="4200"/>
              <a:buNone/>
              <a:defRPr sz="4200">
                <a:solidFill>
                  <a:schemeClr val="dk2"/>
                </a:solidFill>
              </a:defRPr>
            </a:lvl2pPr>
            <a:lvl3pPr lvl="2" algn="l">
              <a:lnSpc>
                <a:spcPct val="100000"/>
              </a:lnSpc>
              <a:spcBef>
                <a:spcPts val="0"/>
              </a:spcBef>
              <a:spcAft>
                <a:spcPts val="0"/>
              </a:spcAft>
              <a:buClr>
                <a:schemeClr val="dk2"/>
              </a:buClr>
              <a:buSzPts val="4200"/>
              <a:buNone/>
              <a:defRPr sz="4200">
                <a:solidFill>
                  <a:schemeClr val="dk2"/>
                </a:solidFill>
              </a:defRPr>
            </a:lvl3pPr>
            <a:lvl4pPr lvl="3" algn="l">
              <a:lnSpc>
                <a:spcPct val="100000"/>
              </a:lnSpc>
              <a:spcBef>
                <a:spcPts val="0"/>
              </a:spcBef>
              <a:spcAft>
                <a:spcPts val="0"/>
              </a:spcAft>
              <a:buClr>
                <a:schemeClr val="dk2"/>
              </a:buClr>
              <a:buSzPts val="4200"/>
              <a:buNone/>
              <a:defRPr sz="4200">
                <a:solidFill>
                  <a:schemeClr val="dk2"/>
                </a:solidFill>
              </a:defRPr>
            </a:lvl4pPr>
            <a:lvl5pPr lvl="4" algn="l">
              <a:lnSpc>
                <a:spcPct val="100000"/>
              </a:lnSpc>
              <a:spcBef>
                <a:spcPts val="0"/>
              </a:spcBef>
              <a:spcAft>
                <a:spcPts val="0"/>
              </a:spcAft>
              <a:buClr>
                <a:schemeClr val="dk2"/>
              </a:buClr>
              <a:buSzPts val="4200"/>
              <a:buNone/>
              <a:defRPr sz="4200">
                <a:solidFill>
                  <a:schemeClr val="dk2"/>
                </a:solidFill>
              </a:defRPr>
            </a:lvl5pPr>
            <a:lvl6pPr lvl="5" algn="l">
              <a:lnSpc>
                <a:spcPct val="100000"/>
              </a:lnSpc>
              <a:spcBef>
                <a:spcPts val="0"/>
              </a:spcBef>
              <a:spcAft>
                <a:spcPts val="0"/>
              </a:spcAft>
              <a:buClr>
                <a:schemeClr val="dk2"/>
              </a:buClr>
              <a:buSzPts val="4200"/>
              <a:buNone/>
              <a:defRPr sz="4200">
                <a:solidFill>
                  <a:schemeClr val="dk2"/>
                </a:solidFill>
              </a:defRPr>
            </a:lvl6pPr>
            <a:lvl7pPr lvl="6" algn="l">
              <a:lnSpc>
                <a:spcPct val="100000"/>
              </a:lnSpc>
              <a:spcBef>
                <a:spcPts val="0"/>
              </a:spcBef>
              <a:spcAft>
                <a:spcPts val="0"/>
              </a:spcAft>
              <a:buClr>
                <a:schemeClr val="dk2"/>
              </a:buClr>
              <a:buSzPts val="4200"/>
              <a:buNone/>
              <a:defRPr sz="4200">
                <a:solidFill>
                  <a:schemeClr val="dk2"/>
                </a:solidFill>
              </a:defRPr>
            </a:lvl7pPr>
            <a:lvl8pPr lvl="7" algn="l">
              <a:lnSpc>
                <a:spcPct val="100000"/>
              </a:lnSpc>
              <a:spcBef>
                <a:spcPts val="0"/>
              </a:spcBef>
              <a:spcAft>
                <a:spcPts val="0"/>
              </a:spcAft>
              <a:buClr>
                <a:schemeClr val="dk2"/>
              </a:buClr>
              <a:buSzPts val="4200"/>
              <a:buNone/>
              <a:defRPr sz="4200">
                <a:solidFill>
                  <a:schemeClr val="dk2"/>
                </a:solidFill>
              </a:defRPr>
            </a:lvl8pPr>
            <a:lvl9pPr lvl="8" algn="l">
              <a:lnSpc>
                <a:spcPct val="100000"/>
              </a:lnSpc>
              <a:spcBef>
                <a:spcPts val="0"/>
              </a:spcBef>
              <a:spcAft>
                <a:spcPts val="0"/>
              </a:spcAft>
              <a:buClr>
                <a:schemeClr val="dk2"/>
              </a:buClr>
              <a:buSzPts val="4200"/>
              <a:buNone/>
              <a:defRPr sz="4200">
                <a:solidFill>
                  <a:schemeClr val="dk2"/>
                </a:solidFill>
              </a:defRPr>
            </a:lvl9pPr>
          </a:lstStyle>
          <a:p>
            <a:endParaRPr/>
          </a:p>
        </p:txBody>
      </p:sp>
      <p:sp>
        <p:nvSpPr>
          <p:cNvPr id="60" name="Google Shape;60;p15"/>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61" name="Google Shape;61;p1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
        <p:nvSpPr>
          <p:cNvPr id="62" name="Google Shape;62;p15"/>
          <p:cNvSpPr/>
          <p:nvPr/>
        </p:nvSpPr>
        <p:spPr>
          <a:xfrm>
            <a:off x="0" y="0"/>
            <a:ext cx="9144000" cy="732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65" name="Google Shape;65;p16"/>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66" name="Google Shape;66;p1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
        <p:nvSpPr>
          <p:cNvPr id="67" name="Google Shape;67;p16"/>
          <p:cNvSpPr/>
          <p:nvPr/>
        </p:nvSpPr>
        <p:spPr>
          <a:xfrm>
            <a:off x="0" y="0"/>
            <a:ext cx="9144000" cy="732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70" name="Google Shape;70;p1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18"/>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73" name="Google Shape;73;p18"/>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74" name="Google Shape;74;p18"/>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75" name="Google Shape;75;p1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
        <p:nvSpPr>
          <p:cNvPr id="76" name="Google Shape;76;p18"/>
          <p:cNvSpPr/>
          <p:nvPr/>
        </p:nvSpPr>
        <p:spPr>
          <a:xfrm>
            <a:off x="0" y="0"/>
            <a:ext cx="9144000" cy="732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79" name="Google Shape;79;p19"/>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80" name="Google Shape;80;p1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
        <p:nvSpPr>
          <p:cNvPr id="81" name="Google Shape;81;p19"/>
          <p:cNvSpPr/>
          <p:nvPr/>
        </p:nvSpPr>
        <p:spPr>
          <a:xfrm>
            <a:off x="0" y="0"/>
            <a:ext cx="9144000" cy="732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82"/>
        <p:cNvGrpSpPr/>
        <p:nvPr/>
      </p:nvGrpSpPr>
      <p:grpSpPr>
        <a:xfrm>
          <a:off x="0" y="0"/>
          <a:ext cx="0" cy="0"/>
          <a:chOff x="0" y="0"/>
          <a:chExt cx="0" cy="0"/>
        </a:xfrm>
      </p:grpSpPr>
      <p:sp>
        <p:nvSpPr>
          <p:cNvPr id="83" name="Google Shape;83;p20"/>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84" name="Google Shape;84;p2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grpSp>
        <p:nvGrpSpPr>
          <p:cNvPr id="85" name="Google Shape;85;p20"/>
          <p:cNvGrpSpPr/>
          <p:nvPr/>
        </p:nvGrpSpPr>
        <p:grpSpPr>
          <a:xfrm>
            <a:off x="830392" y="4169130"/>
            <a:ext cx="745763" cy="45826"/>
            <a:chOff x="4580561" y="2589004"/>
            <a:chExt cx="1064464" cy="25200"/>
          </a:xfrm>
        </p:grpSpPr>
        <p:sp>
          <p:nvSpPr>
            <p:cNvPr id="86" name="Google Shape;86;p2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2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8"/>
        <p:cNvGrpSpPr/>
        <p:nvPr/>
      </p:nvGrpSpPr>
      <p:grpSpPr>
        <a:xfrm>
          <a:off x="0" y="0"/>
          <a:ext cx="0" cy="0"/>
          <a:chOff x="0" y="0"/>
          <a:chExt cx="0" cy="0"/>
        </a:xfrm>
      </p:grpSpPr>
      <p:sp>
        <p:nvSpPr>
          <p:cNvPr id="89" name="Google Shape;89;p21"/>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21"/>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91" name="Google Shape;91;p21"/>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92" name="Google Shape;92;p21"/>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93" name="Google Shape;93;p2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4"/>
        <p:cNvGrpSpPr/>
        <p:nvPr/>
      </p:nvGrpSpPr>
      <p:grpSpPr>
        <a:xfrm>
          <a:off x="0" y="0"/>
          <a:ext cx="0" cy="0"/>
          <a:chOff x="0" y="0"/>
          <a:chExt cx="0" cy="0"/>
        </a:xfrm>
      </p:grpSpPr>
      <p:sp>
        <p:nvSpPr>
          <p:cNvPr id="95" name="Google Shape;95;p22"/>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300"/>
              <a:buNone/>
              <a:defRPr/>
            </a:lvl1pPr>
          </a:lstStyle>
          <a:p>
            <a:endParaRPr/>
          </a:p>
        </p:txBody>
      </p:sp>
      <p:sp>
        <p:nvSpPr>
          <p:cNvPr id="96" name="Google Shape;96;p2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97"/>
        <p:cNvGrpSpPr/>
        <p:nvPr/>
      </p:nvGrpSpPr>
      <p:grpSpPr>
        <a:xfrm>
          <a:off x="0" y="0"/>
          <a:ext cx="0" cy="0"/>
          <a:chOff x="0" y="0"/>
          <a:chExt cx="0" cy="0"/>
        </a:xfrm>
      </p:grpSpPr>
      <p:grpSp>
        <p:nvGrpSpPr>
          <p:cNvPr id="98" name="Google Shape;98;p23"/>
          <p:cNvGrpSpPr/>
          <p:nvPr/>
        </p:nvGrpSpPr>
        <p:grpSpPr>
          <a:xfrm>
            <a:off x="830392" y="4169130"/>
            <a:ext cx="745763" cy="45826"/>
            <a:chOff x="4580561" y="2589004"/>
            <a:chExt cx="1064464" cy="25200"/>
          </a:xfrm>
        </p:grpSpPr>
        <p:sp>
          <p:nvSpPr>
            <p:cNvPr id="99" name="Google Shape;99;p2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2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1" name="Google Shape;101;p23"/>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102" name="Google Shape;102;p23"/>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1600"/>
              </a:spcBef>
              <a:spcAft>
                <a:spcPts val="0"/>
              </a:spcAft>
              <a:buClr>
                <a:schemeClr val="lt1"/>
              </a:buClr>
              <a:buSzPts val="1100"/>
              <a:buChar char="○"/>
              <a:defRPr>
                <a:solidFill>
                  <a:schemeClr val="lt1"/>
                </a:solidFill>
              </a:defRPr>
            </a:lvl2pPr>
            <a:lvl3pPr marL="1371600" lvl="2" indent="-298450" algn="l">
              <a:lnSpc>
                <a:spcPct val="115000"/>
              </a:lnSpc>
              <a:spcBef>
                <a:spcPts val="1600"/>
              </a:spcBef>
              <a:spcAft>
                <a:spcPts val="0"/>
              </a:spcAft>
              <a:buClr>
                <a:schemeClr val="lt1"/>
              </a:buClr>
              <a:buSzPts val="1100"/>
              <a:buChar char="■"/>
              <a:defRPr>
                <a:solidFill>
                  <a:schemeClr val="lt1"/>
                </a:solidFill>
              </a:defRPr>
            </a:lvl3pPr>
            <a:lvl4pPr marL="1828800" lvl="3" indent="-298450" algn="l">
              <a:lnSpc>
                <a:spcPct val="115000"/>
              </a:lnSpc>
              <a:spcBef>
                <a:spcPts val="1600"/>
              </a:spcBef>
              <a:spcAft>
                <a:spcPts val="0"/>
              </a:spcAft>
              <a:buClr>
                <a:schemeClr val="lt1"/>
              </a:buClr>
              <a:buSzPts val="1100"/>
              <a:buChar char="●"/>
              <a:defRPr>
                <a:solidFill>
                  <a:schemeClr val="lt1"/>
                </a:solidFill>
              </a:defRPr>
            </a:lvl4pPr>
            <a:lvl5pPr marL="2286000" lvl="4" indent="-298450" algn="l">
              <a:lnSpc>
                <a:spcPct val="115000"/>
              </a:lnSpc>
              <a:spcBef>
                <a:spcPts val="1600"/>
              </a:spcBef>
              <a:spcAft>
                <a:spcPts val="0"/>
              </a:spcAft>
              <a:buClr>
                <a:schemeClr val="lt1"/>
              </a:buClr>
              <a:buSzPts val="1100"/>
              <a:buChar char="○"/>
              <a:defRPr>
                <a:solidFill>
                  <a:schemeClr val="lt1"/>
                </a:solidFill>
              </a:defRPr>
            </a:lvl5pPr>
            <a:lvl6pPr marL="2743200" lvl="5" indent="-298450" algn="l">
              <a:lnSpc>
                <a:spcPct val="115000"/>
              </a:lnSpc>
              <a:spcBef>
                <a:spcPts val="1600"/>
              </a:spcBef>
              <a:spcAft>
                <a:spcPts val="0"/>
              </a:spcAft>
              <a:buClr>
                <a:schemeClr val="lt1"/>
              </a:buClr>
              <a:buSzPts val="1100"/>
              <a:buChar char="■"/>
              <a:defRPr>
                <a:solidFill>
                  <a:schemeClr val="lt1"/>
                </a:solidFill>
              </a:defRPr>
            </a:lvl6pPr>
            <a:lvl7pPr marL="3200400" lvl="6" indent="-298450" algn="l">
              <a:lnSpc>
                <a:spcPct val="115000"/>
              </a:lnSpc>
              <a:spcBef>
                <a:spcPts val="1600"/>
              </a:spcBef>
              <a:spcAft>
                <a:spcPts val="0"/>
              </a:spcAft>
              <a:buClr>
                <a:schemeClr val="lt1"/>
              </a:buClr>
              <a:buSzPts val="1100"/>
              <a:buChar char="●"/>
              <a:defRPr>
                <a:solidFill>
                  <a:schemeClr val="lt1"/>
                </a:solidFill>
              </a:defRPr>
            </a:lvl7pPr>
            <a:lvl8pPr marL="3657600" lvl="7" indent="-298450" algn="l">
              <a:lnSpc>
                <a:spcPct val="115000"/>
              </a:lnSpc>
              <a:spcBef>
                <a:spcPts val="1600"/>
              </a:spcBef>
              <a:spcAft>
                <a:spcPts val="0"/>
              </a:spcAft>
              <a:buClr>
                <a:schemeClr val="lt1"/>
              </a:buClr>
              <a:buSzPts val="1100"/>
              <a:buChar char="○"/>
              <a:defRPr>
                <a:solidFill>
                  <a:schemeClr val="lt1"/>
                </a:solidFill>
              </a:defRPr>
            </a:lvl8pPr>
            <a:lvl9pPr marL="4114800" lvl="8" indent="-298450" algn="l">
              <a:lnSpc>
                <a:spcPct val="115000"/>
              </a:lnSpc>
              <a:spcBef>
                <a:spcPts val="1600"/>
              </a:spcBef>
              <a:spcAft>
                <a:spcPts val="1600"/>
              </a:spcAft>
              <a:buClr>
                <a:schemeClr val="lt1"/>
              </a:buClr>
              <a:buSzPts val="1100"/>
              <a:buChar char="■"/>
              <a:defRPr>
                <a:solidFill>
                  <a:schemeClr val="lt1"/>
                </a:solidFill>
              </a:defRPr>
            </a:lvl9pPr>
          </a:lstStyle>
          <a:p>
            <a:endParaRPr/>
          </a:p>
        </p:txBody>
      </p:sp>
      <p:sp>
        <p:nvSpPr>
          <p:cNvPr id="103" name="Google Shape;103;p2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4"/>
        <p:cNvGrpSpPr/>
        <p:nvPr/>
      </p:nvGrpSpPr>
      <p:grpSpPr>
        <a:xfrm>
          <a:off x="0" y="0"/>
          <a:ext cx="0" cy="0"/>
          <a:chOff x="0" y="0"/>
          <a:chExt cx="0" cy="0"/>
        </a:xfrm>
      </p:grpSpPr>
      <p:sp>
        <p:nvSpPr>
          <p:cNvPr id="105" name="Google Shape;105;p2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1600"/>
              </a:spcBef>
              <a:spcAft>
                <a:spcPts val="160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53" name="Google Shape;53;p1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5"/>
          <p:cNvSpPr txBox="1"/>
          <p:nvPr/>
        </p:nvSpPr>
        <p:spPr>
          <a:xfrm>
            <a:off x="218125" y="56500"/>
            <a:ext cx="7717800" cy="336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700"/>
              <a:buFont typeface="Arial"/>
              <a:buNone/>
            </a:pPr>
            <a:r>
              <a:rPr lang="en" sz="1700" b="1">
                <a:solidFill>
                  <a:schemeClr val="dk1"/>
                </a:solidFill>
                <a:latin typeface="Questrial"/>
                <a:ea typeface="Questrial"/>
                <a:cs typeface="Questrial"/>
                <a:sym typeface="Questrial"/>
              </a:rPr>
              <a:t>OLIST</a:t>
            </a:r>
            <a:endParaRPr sz="2000" b="1" i="0" u="none" strike="noStrike" cap="none">
              <a:solidFill>
                <a:srgbClr val="000000"/>
              </a:solidFill>
              <a:latin typeface="Questrial"/>
              <a:ea typeface="Questrial"/>
              <a:cs typeface="Questrial"/>
              <a:sym typeface="Questrial"/>
            </a:endParaRPr>
          </a:p>
        </p:txBody>
      </p:sp>
      <p:sp>
        <p:nvSpPr>
          <p:cNvPr id="111" name="Google Shape;111;p25"/>
          <p:cNvSpPr txBox="1">
            <a:spLocks noGrp="1"/>
          </p:cNvSpPr>
          <p:nvPr>
            <p:ph type="ctrTitle"/>
          </p:nvPr>
        </p:nvSpPr>
        <p:spPr>
          <a:xfrm>
            <a:off x="729627" y="1016156"/>
            <a:ext cx="7688100" cy="190888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200"/>
              <a:buNone/>
            </a:pPr>
            <a:r>
              <a:rPr lang="en-US" sz="4000" dirty="0">
                <a:solidFill>
                  <a:schemeClr val="dk1"/>
                </a:solidFill>
                <a:latin typeface="Questrial"/>
                <a:ea typeface="Questrial"/>
                <a:cs typeface="Questrial"/>
                <a:sym typeface="Questrial"/>
              </a:rPr>
              <a:t>Optimizing E-commerce Performance through Data-driven Insights</a:t>
            </a:r>
          </a:p>
        </p:txBody>
      </p:sp>
      <p:sp>
        <p:nvSpPr>
          <p:cNvPr id="112" name="Google Shape;112;p25"/>
          <p:cNvSpPr txBox="1">
            <a:spLocks noGrp="1"/>
          </p:cNvSpPr>
          <p:nvPr>
            <p:ph type="subTitle" idx="1"/>
          </p:nvPr>
        </p:nvSpPr>
        <p:spPr>
          <a:xfrm>
            <a:off x="729627" y="3172900"/>
            <a:ext cx="7688100" cy="95444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b="1" dirty="0">
                <a:solidFill>
                  <a:schemeClr val="dk1"/>
                </a:solidFill>
                <a:latin typeface="Questrial"/>
                <a:ea typeface="Questrial"/>
                <a:cs typeface="Questrial"/>
                <a:sym typeface="Questrial"/>
              </a:rPr>
              <a:t>Name : Richard Kanagaraj Samuel</a:t>
            </a:r>
            <a:endParaRPr b="1" dirty="0">
              <a:solidFill>
                <a:schemeClr val="dk1"/>
              </a:solidFill>
              <a:latin typeface="Questrial"/>
              <a:ea typeface="Questrial"/>
              <a:cs typeface="Questrial"/>
              <a:sym typeface="Questrial"/>
            </a:endParaRPr>
          </a:p>
          <a:p>
            <a:pPr marL="0" lvl="0" indent="0" algn="l" rtl="0">
              <a:lnSpc>
                <a:spcPct val="100000"/>
              </a:lnSpc>
              <a:spcBef>
                <a:spcPts val="0"/>
              </a:spcBef>
              <a:spcAft>
                <a:spcPts val="0"/>
              </a:spcAft>
              <a:buSzPts val="1600"/>
              <a:buNone/>
            </a:pPr>
            <a:r>
              <a:rPr lang="en" b="1" dirty="0">
                <a:solidFill>
                  <a:schemeClr val="dk1"/>
                </a:solidFill>
                <a:latin typeface="Questrial"/>
                <a:ea typeface="Questrial"/>
                <a:cs typeface="Questrial"/>
                <a:sym typeface="Questrial"/>
              </a:rPr>
              <a:t>Position : Data S</a:t>
            </a:r>
            <a:r>
              <a:rPr lang="en-US" b="1" dirty="0">
                <a:solidFill>
                  <a:schemeClr val="dk1"/>
                </a:solidFill>
                <a:latin typeface="Questrial"/>
                <a:ea typeface="Questrial"/>
                <a:cs typeface="Questrial"/>
                <a:sym typeface="Questrial"/>
              </a:rPr>
              <a:t>scientist </a:t>
            </a:r>
            <a:endParaRPr b="1" dirty="0">
              <a:solidFill>
                <a:schemeClr val="dk1"/>
              </a:solidFill>
              <a:latin typeface="Questrial"/>
              <a:ea typeface="Questrial"/>
              <a:cs typeface="Questrial"/>
              <a:sym typeface="Questrial"/>
            </a:endParaRPr>
          </a:p>
          <a:p>
            <a:pPr marL="0" lvl="0" indent="0" algn="l" rtl="0">
              <a:lnSpc>
                <a:spcPct val="100000"/>
              </a:lnSpc>
              <a:spcBef>
                <a:spcPts val="0"/>
              </a:spcBef>
              <a:spcAft>
                <a:spcPts val="0"/>
              </a:spcAft>
              <a:buSzPts val="1600"/>
              <a:buNone/>
            </a:pPr>
            <a:r>
              <a:rPr lang="en" b="1" dirty="0">
                <a:solidFill>
                  <a:schemeClr val="dk1"/>
                </a:solidFill>
                <a:latin typeface="Questrial"/>
                <a:ea typeface="Questrial"/>
                <a:cs typeface="Questrial"/>
                <a:sym typeface="Questrial"/>
              </a:rPr>
              <a:t>Date : 07/15/2023</a:t>
            </a:r>
            <a:endParaRPr b="1" dirty="0">
              <a:solidFill>
                <a:schemeClr val="dk1"/>
              </a:solidFill>
              <a:latin typeface="Questrial"/>
              <a:ea typeface="Questrial"/>
              <a:cs typeface="Questrial"/>
              <a:sym typeface="Quest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p:nvPr/>
        </p:nvSpPr>
        <p:spPr>
          <a:xfrm>
            <a:off x="65725" y="132700"/>
            <a:ext cx="7717800" cy="336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 sz="2100" b="1" i="0" u="none" strike="noStrike" cap="none">
                <a:solidFill>
                  <a:schemeClr val="dk1"/>
                </a:solidFill>
                <a:latin typeface="Questrial"/>
                <a:ea typeface="Questrial"/>
                <a:cs typeface="Questrial"/>
                <a:sym typeface="Questrial"/>
              </a:rPr>
              <a:t>Candidate Data Science Projects</a:t>
            </a:r>
            <a:endParaRPr sz="2100" b="1">
              <a:solidFill>
                <a:schemeClr val="dk1"/>
              </a:solidFill>
              <a:latin typeface="Questrial"/>
              <a:ea typeface="Questrial"/>
              <a:cs typeface="Questrial"/>
              <a:sym typeface="Quest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000000"/>
              </a:solidFill>
              <a:latin typeface="Questrial"/>
              <a:ea typeface="Questrial"/>
              <a:cs typeface="Questrial"/>
              <a:sym typeface="Questrial"/>
            </a:endParaRPr>
          </a:p>
        </p:txBody>
      </p:sp>
      <p:graphicFrame>
        <p:nvGraphicFramePr>
          <p:cNvPr id="118" name="Google Shape;118;p26"/>
          <p:cNvGraphicFramePr/>
          <p:nvPr>
            <p:extLst>
              <p:ext uri="{D42A27DB-BD31-4B8C-83A1-F6EECF244321}">
                <p14:modId xmlns:p14="http://schemas.microsoft.com/office/powerpoint/2010/main" val="1470834344"/>
              </p:ext>
            </p:extLst>
          </p:nvPr>
        </p:nvGraphicFramePr>
        <p:xfrm>
          <a:off x="178755" y="783771"/>
          <a:ext cx="8834617" cy="4162452"/>
        </p:xfrm>
        <a:graphic>
          <a:graphicData uri="http://schemas.openxmlformats.org/drawingml/2006/table">
            <a:tbl>
              <a:tblPr>
                <a:noFill/>
                <a:tableStyleId>{58C65776-282E-4D7A-92DA-6DF953E9000F}</a:tableStyleId>
              </a:tblPr>
              <a:tblGrid>
                <a:gridCol w="1375037">
                  <a:extLst>
                    <a:ext uri="{9D8B030D-6E8A-4147-A177-3AD203B41FA5}">
                      <a16:colId xmlns:a16="http://schemas.microsoft.com/office/drawing/2014/main" val="20000"/>
                    </a:ext>
                  </a:extLst>
                </a:gridCol>
                <a:gridCol w="1553793">
                  <a:extLst>
                    <a:ext uri="{9D8B030D-6E8A-4147-A177-3AD203B41FA5}">
                      <a16:colId xmlns:a16="http://schemas.microsoft.com/office/drawing/2014/main" val="20001"/>
                    </a:ext>
                  </a:extLst>
                </a:gridCol>
                <a:gridCol w="5905787">
                  <a:extLst>
                    <a:ext uri="{9D8B030D-6E8A-4147-A177-3AD203B41FA5}">
                      <a16:colId xmlns:a16="http://schemas.microsoft.com/office/drawing/2014/main" val="20002"/>
                    </a:ext>
                  </a:extLst>
                </a:gridCol>
              </a:tblGrid>
              <a:tr h="480023">
                <a:tc>
                  <a:txBody>
                    <a:bodyPr/>
                    <a:lstStyle/>
                    <a:p>
                      <a:pPr marL="0" marR="0" lvl="0" indent="0" algn="ctr" rtl="0">
                        <a:lnSpc>
                          <a:spcPct val="115000"/>
                        </a:lnSpc>
                        <a:spcBef>
                          <a:spcPts val="0"/>
                        </a:spcBef>
                        <a:spcAft>
                          <a:spcPts val="0"/>
                        </a:spcAft>
                        <a:buClr>
                          <a:srgbClr val="000000"/>
                        </a:buClr>
                        <a:buSzPts val="1000"/>
                        <a:buFont typeface="Arial"/>
                        <a:buNone/>
                      </a:pPr>
                      <a:endParaRPr sz="12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0B050"/>
                    </a:solidFill>
                  </a:tcPr>
                </a:tc>
                <a:tc>
                  <a:txBody>
                    <a:bodyPr/>
                    <a:lstStyle/>
                    <a:p>
                      <a:pPr marL="0" marR="0" lvl="0" indent="0" algn="ctr" rtl="0">
                        <a:lnSpc>
                          <a:spcPct val="115000"/>
                        </a:lnSpc>
                        <a:spcBef>
                          <a:spcPts val="0"/>
                        </a:spcBef>
                        <a:spcAft>
                          <a:spcPts val="0"/>
                        </a:spcAft>
                        <a:buClr>
                          <a:srgbClr val="000000"/>
                        </a:buClr>
                        <a:buSzPts val="1000"/>
                        <a:buFont typeface="Arial"/>
                        <a:buNone/>
                      </a:pPr>
                      <a:r>
                        <a:rPr lang="en" sz="1200" b="1" u="none" strike="noStrike" cap="none" dirty="0">
                          <a:latin typeface="Questrial"/>
                          <a:ea typeface="Questrial"/>
                          <a:cs typeface="Questrial"/>
                          <a:sym typeface="Questrial"/>
                        </a:rPr>
                        <a:t>Functional Area</a:t>
                      </a:r>
                      <a:endParaRPr sz="12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0B050"/>
                    </a:solidFill>
                  </a:tcPr>
                </a:tc>
                <a:tc>
                  <a:txBody>
                    <a:bodyPr/>
                    <a:lstStyle/>
                    <a:p>
                      <a:pPr marL="0" marR="0" lvl="0" indent="0" algn="ctr" rtl="0">
                        <a:lnSpc>
                          <a:spcPct val="115000"/>
                        </a:lnSpc>
                        <a:spcBef>
                          <a:spcPts val="0"/>
                        </a:spcBef>
                        <a:spcAft>
                          <a:spcPts val="0"/>
                        </a:spcAft>
                        <a:buClr>
                          <a:srgbClr val="000000"/>
                        </a:buClr>
                        <a:buSzPts val="1000"/>
                        <a:buFont typeface="Arial"/>
                        <a:buNone/>
                      </a:pPr>
                      <a:r>
                        <a:rPr lang="en" sz="1200" b="1" u="none" strike="noStrike" cap="none" dirty="0">
                          <a:latin typeface="Questrial"/>
                          <a:ea typeface="Questrial"/>
                          <a:cs typeface="Questrial"/>
                          <a:sym typeface="Questrial"/>
                        </a:rPr>
                        <a:t>Project Description</a:t>
                      </a:r>
                      <a:endParaRPr sz="12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0B050"/>
                    </a:solidFill>
                  </a:tcPr>
                </a:tc>
                <a:extLst>
                  <a:ext uri="{0D108BD9-81ED-4DB2-BD59-A6C34878D82A}">
                    <a16:rowId xmlns:a16="http://schemas.microsoft.com/office/drawing/2014/main" val="10000"/>
                  </a:ext>
                </a:extLst>
              </a:tr>
              <a:tr h="1286915">
                <a:tc>
                  <a:txBody>
                    <a:bodyPr/>
                    <a:lstStyle/>
                    <a:p>
                      <a:pPr marL="0" marR="0" lvl="0" indent="0" algn="l" rtl="0">
                        <a:lnSpc>
                          <a:spcPct val="115000"/>
                        </a:lnSpc>
                        <a:spcBef>
                          <a:spcPts val="0"/>
                        </a:spcBef>
                        <a:spcAft>
                          <a:spcPts val="0"/>
                        </a:spcAft>
                        <a:buClr>
                          <a:srgbClr val="000000"/>
                        </a:buClr>
                        <a:buSzPts val="1000"/>
                        <a:buFont typeface="Arial"/>
                        <a:buNone/>
                      </a:pPr>
                      <a:r>
                        <a:rPr lang="en" sz="1000" b="1" u="none" strike="noStrike" cap="none" dirty="0">
                          <a:latin typeface="Questrial"/>
                          <a:ea typeface="Questrial"/>
                          <a:cs typeface="Questrial"/>
                          <a:sym typeface="Questrial"/>
                        </a:rPr>
                        <a:t>Project 1:</a:t>
                      </a:r>
                      <a:endParaRPr sz="1000" b="1" u="none" strike="noStrike" cap="none" dirty="0">
                        <a:latin typeface="Questrial"/>
                        <a:ea typeface="Questrial"/>
                        <a:cs typeface="Questrial"/>
                        <a:sym typeface="Questrial"/>
                      </a:endParaRPr>
                    </a:p>
                    <a:p>
                      <a:pPr marL="0" marR="0" lvl="0" indent="0" algn="l" rtl="0">
                        <a:lnSpc>
                          <a:spcPct val="115000"/>
                        </a:lnSpc>
                        <a:spcBef>
                          <a:spcPts val="0"/>
                        </a:spcBef>
                        <a:spcAft>
                          <a:spcPts val="0"/>
                        </a:spcAft>
                        <a:buClr>
                          <a:srgbClr val="000000"/>
                        </a:buClr>
                        <a:buSzPts val="1000"/>
                        <a:buFont typeface="Arial"/>
                        <a:buNone/>
                      </a:pPr>
                      <a:r>
                        <a:rPr lang="en-US" sz="1000" b="1" u="none" strike="noStrike" cap="none" dirty="0">
                          <a:latin typeface="Questrial"/>
                          <a:ea typeface="Questrial"/>
                          <a:cs typeface="Questrial"/>
                          <a:sym typeface="Questrial"/>
                        </a:rPr>
                        <a:t>Delivery Date Prediction</a:t>
                      </a:r>
                      <a:endParaRPr sz="1000" b="1"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Logistics, Customer Experience</a:t>
                      </a:r>
                      <a:endParaRPr sz="10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The objective of this project is to accurately predict the delivery dates for orders placed by customers. Currently, the estimated delivery dates provided by the logistics team are conservative and result in longer expected delivery times. This impacts customer satisfaction and retention. By leveraging machine learning techniques, the Chief Marketing Officer aims to develop a model that can provide more accurate delivery date predictions. This will not only enhance customer delight but also enable better inventory management and last mile delivery.</a:t>
                      </a:r>
                      <a:endParaRPr sz="10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1286915">
                <a:tc>
                  <a:txBody>
                    <a:bodyPr/>
                    <a:lstStyle/>
                    <a:p>
                      <a:pPr marL="0" marR="0" lvl="0" indent="0" algn="l" rtl="0">
                        <a:lnSpc>
                          <a:spcPct val="115000"/>
                        </a:lnSpc>
                        <a:spcBef>
                          <a:spcPts val="0"/>
                        </a:spcBef>
                        <a:spcAft>
                          <a:spcPts val="0"/>
                        </a:spcAft>
                        <a:buClr>
                          <a:srgbClr val="000000"/>
                        </a:buClr>
                        <a:buSzPts val="1000"/>
                        <a:buFont typeface="Arial"/>
                        <a:buNone/>
                      </a:pPr>
                      <a:r>
                        <a:rPr lang="en" sz="1000" b="1" u="none" strike="noStrike" cap="none" dirty="0">
                          <a:latin typeface="Questrial"/>
                          <a:ea typeface="Questrial"/>
                          <a:cs typeface="Questrial"/>
                          <a:sym typeface="Questrial"/>
                        </a:rPr>
                        <a:t>Project 2:</a:t>
                      </a:r>
                      <a:endParaRPr sz="1000" b="1" u="none" strike="noStrike" cap="none" dirty="0">
                        <a:latin typeface="Questrial"/>
                        <a:ea typeface="Questrial"/>
                        <a:cs typeface="Questrial"/>
                        <a:sym typeface="Questrial"/>
                      </a:endParaRPr>
                    </a:p>
                    <a:p>
                      <a:pPr marL="0" marR="0" lvl="0" indent="0" algn="l" rtl="0">
                        <a:lnSpc>
                          <a:spcPct val="115000"/>
                        </a:lnSpc>
                        <a:spcBef>
                          <a:spcPts val="0"/>
                        </a:spcBef>
                        <a:spcAft>
                          <a:spcPts val="0"/>
                        </a:spcAft>
                        <a:buClr>
                          <a:srgbClr val="000000"/>
                        </a:buClr>
                        <a:buSzPts val="1000"/>
                        <a:buFont typeface="Arial"/>
                        <a:buNone/>
                      </a:pPr>
                      <a:r>
                        <a:rPr lang="en-US" sz="1000" b="1" u="none" strike="noStrike" cap="none" dirty="0">
                          <a:latin typeface="Questrial"/>
                          <a:ea typeface="Questrial"/>
                          <a:cs typeface="Questrial"/>
                          <a:sym typeface="Questrial"/>
                        </a:rPr>
                        <a:t>Sentiment Analysis</a:t>
                      </a:r>
                      <a:endParaRPr sz="1000" b="1"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Marketing, Customer Experience</a:t>
                      </a:r>
                      <a:endParaRPr sz="10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The Chief Marketing Officer wants to understand customer sentiments based on reviews received after order delivery. The challenge lies in analyzing sentiment in Portuguese, as NLP algorithms are not as sophisticated in this language. The project aims to use NLP techniques to perform sentiment analysis on customer reviews and identify areas of improvement. By gaining insights into customer sentiment, the company can manage customer experiences effectively and make informed decisions to enhance customer satisfaction.</a:t>
                      </a: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1108599">
                <a:tc>
                  <a:txBody>
                    <a:bodyPr/>
                    <a:lstStyle/>
                    <a:p>
                      <a:pPr marL="0" marR="0" lvl="0" indent="0" algn="l" rtl="0">
                        <a:lnSpc>
                          <a:spcPct val="115000"/>
                        </a:lnSpc>
                        <a:spcBef>
                          <a:spcPts val="0"/>
                        </a:spcBef>
                        <a:spcAft>
                          <a:spcPts val="0"/>
                        </a:spcAft>
                        <a:buClr>
                          <a:srgbClr val="000000"/>
                        </a:buClr>
                        <a:buSzPts val="1000"/>
                        <a:buFont typeface="Arial"/>
                        <a:buNone/>
                      </a:pPr>
                      <a:r>
                        <a:rPr lang="en" sz="1000" b="1" u="none" strike="noStrike" cap="none" dirty="0">
                          <a:latin typeface="Questrial"/>
                          <a:ea typeface="Questrial"/>
                          <a:cs typeface="Questrial"/>
                          <a:sym typeface="Questrial"/>
                        </a:rPr>
                        <a:t>Project 3:</a:t>
                      </a:r>
                      <a:endParaRPr sz="1000" b="1" u="none" strike="noStrike" cap="none" dirty="0">
                        <a:latin typeface="Questrial"/>
                        <a:ea typeface="Questrial"/>
                        <a:cs typeface="Questrial"/>
                        <a:sym typeface="Questrial"/>
                      </a:endParaRPr>
                    </a:p>
                    <a:p>
                      <a:pPr marL="0" marR="0" lvl="0" indent="0" algn="l" rtl="0">
                        <a:lnSpc>
                          <a:spcPct val="115000"/>
                        </a:lnSpc>
                        <a:spcBef>
                          <a:spcPts val="0"/>
                        </a:spcBef>
                        <a:spcAft>
                          <a:spcPts val="0"/>
                        </a:spcAft>
                        <a:buClr>
                          <a:srgbClr val="000000"/>
                        </a:buClr>
                        <a:buSzPts val="1000"/>
                        <a:buFont typeface="Arial"/>
                        <a:buNone/>
                      </a:pPr>
                      <a:r>
                        <a:rPr lang="en-US" sz="1000" b="1" u="none" strike="noStrike" cap="none" dirty="0">
                          <a:latin typeface="Questrial"/>
                          <a:ea typeface="Questrial"/>
                          <a:cs typeface="Questrial"/>
                          <a:sym typeface="Questrial"/>
                        </a:rPr>
                        <a:t>Customer Churn</a:t>
                      </a:r>
                      <a:endParaRPr sz="1000" b="1"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Marketing, Customer Retention</a:t>
                      </a:r>
                      <a:endParaRPr sz="10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Customer churn is a critical metric for the Chief Marketing Officer. The goal of this project is to develop churn models that can identify "at-risk" customers who are likely to churn. By understanding the factors driving customer churn, OLIST can implement targeted retention strategies and improve customer retention rates. This project will provide valuable insights into customer behavior and help the company enhance its customer retention efforts.</a:t>
                      </a:r>
                      <a:endParaRPr sz="10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p:nvPr/>
        </p:nvSpPr>
        <p:spPr>
          <a:xfrm>
            <a:off x="65725" y="132700"/>
            <a:ext cx="7717800" cy="336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 sz="2100" b="1" i="0" u="none" strike="noStrike" cap="none">
                <a:solidFill>
                  <a:schemeClr val="dk1"/>
                </a:solidFill>
                <a:latin typeface="Questrial"/>
                <a:ea typeface="Questrial"/>
                <a:cs typeface="Questrial"/>
                <a:sym typeface="Questrial"/>
              </a:rPr>
              <a:t>Candidate Data Science Projects</a:t>
            </a:r>
            <a:endParaRPr sz="2100" b="1">
              <a:solidFill>
                <a:schemeClr val="dk1"/>
              </a:solidFill>
              <a:latin typeface="Questrial"/>
              <a:ea typeface="Questrial"/>
              <a:cs typeface="Questrial"/>
              <a:sym typeface="Quest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000000"/>
              </a:solidFill>
              <a:latin typeface="Questrial"/>
              <a:ea typeface="Questrial"/>
              <a:cs typeface="Questrial"/>
              <a:sym typeface="Questrial"/>
            </a:endParaRPr>
          </a:p>
        </p:txBody>
      </p:sp>
      <p:graphicFrame>
        <p:nvGraphicFramePr>
          <p:cNvPr id="118" name="Google Shape;118;p26"/>
          <p:cNvGraphicFramePr/>
          <p:nvPr>
            <p:extLst>
              <p:ext uri="{D42A27DB-BD31-4B8C-83A1-F6EECF244321}">
                <p14:modId xmlns:p14="http://schemas.microsoft.com/office/powerpoint/2010/main" val="2565879762"/>
              </p:ext>
            </p:extLst>
          </p:nvPr>
        </p:nvGraphicFramePr>
        <p:xfrm>
          <a:off x="65725" y="855115"/>
          <a:ext cx="9078275" cy="3655319"/>
        </p:xfrm>
        <a:graphic>
          <a:graphicData uri="http://schemas.openxmlformats.org/drawingml/2006/table">
            <a:tbl>
              <a:tblPr>
                <a:noFill/>
                <a:tableStyleId>{58C65776-282E-4D7A-92DA-6DF953E9000F}</a:tableStyleId>
              </a:tblPr>
              <a:tblGrid>
                <a:gridCol w="1478626">
                  <a:extLst>
                    <a:ext uri="{9D8B030D-6E8A-4147-A177-3AD203B41FA5}">
                      <a16:colId xmlns:a16="http://schemas.microsoft.com/office/drawing/2014/main" val="20000"/>
                    </a:ext>
                  </a:extLst>
                </a:gridCol>
                <a:gridCol w="2352922">
                  <a:extLst>
                    <a:ext uri="{9D8B030D-6E8A-4147-A177-3AD203B41FA5}">
                      <a16:colId xmlns:a16="http://schemas.microsoft.com/office/drawing/2014/main" val="20001"/>
                    </a:ext>
                  </a:extLst>
                </a:gridCol>
                <a:gridCol w="5246727">
                  <a:extLst>
                    <a:ext uri="{9D8B030D-6E8A-4147-A177-3AD203B41FA5}">
                      <a16:colId xmlns:a16="http://schemas.microsoft.com/office/drawing/2014/main" val="20002"/>
                    </a:ext>
                  </a:extLst>
                </a:gridCol>
              </a:tblGrid>
              <a:tr h="416795">
                <a:tc>
                  <a:txBody>
                    <a:bodyPr/>
                    <a:lstStyle/>
                    <a:p>
                      <a:pPr marL="0" marR="0" lvl="0" indent="0" algn="l" rtl="0">
                        <a:lnSpc>
                          <a:spcPct val="115000"/>
                        </a:lnSpc>
                        <a:spcBef>
                          <a:spcPts val="0"/>
                        </a:spcBef>
                        <a:spcAft>
                          <a:spcPts val="0"/>
                        </a:spcAft>
                        <a:buClr>
                          <a:srgbClr val="000000"/>
                        </a:buClr>
                        <a:buSzPts val="1000"/>
                        <a:buFont typeface="Arial"/>
                        <a:buNone/>
                      </a:pPr>
                      <a:endParaRPr sz="10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0B050"/>
                    </a:solidFill>
                  </a:tcPr>
                </a:tc>
                <a:tc>
                  <a:txBody>
                    <a:bodyPr/>
                    <a:lstStyle/>
                    <a:p>
                      <a:pPr marL="0" marR="0" lvl="0" indent="0" algn="ctr" rtl="0">
                        <a:lnSpc>
                          <a:spcPct val="115000"/>
                        </a:lnSpc>
                        <a:spcBef>
                          <a:spcPts val="0"/>
                        </a:spcBef>
                        <a:spcAft>
                          <a:spcPts val="0"/>
                        </a:spcAft>
                        <a:buClr>
                          <a:srgbClr val="000000"/>
                        </a:buClr>
                        <a:buSzPts val="1000"/>
                        <a:buFont typeface="Arial"/>
                        <a:buNone/>
                      </a:pPr>
                      <a:r>
                        <a:rPr lang="en" sz="1200" b="1" u="none" strike="noStrike" cap="none" dirty="0">
                          <a:latin typeface="Questrial"/>
                          <a:ea typeface="Questrial"/>
                          <a:cs typeface="Questrial"/>
                          <a:sym typeface="Questrial"/>
                        </a:rPr>
                        <a:t>Functional Area</a:t>
                      </a:r>
                      <a:endParaRPr sz="12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0B050"/>
                    </a:solidFill>
                  </a:tcPr>
                </a:tc>
                <a:tc>
                  <a:txBody>
                    <a:bodyPr/>
                    <a:lstStyle/>
                    <a:p>
                      <a:pPr marL="0" marR="0" lvl="0" indent="0" algn="ctr" rtl="0">
                        <a:lnSpc>
                          <a:spcPct val="115000"/>
                        </a:lnSpc>
                        <a:spcBef>
                          <a:spcPts val="0"/>
                        </a:spcBef>
                        <a:spcAft>
                          <a:spcPts val="0"/>
                        </a:spcAft>
                        <a:buClr>
                          <a:srgbClr val="000000"/>
                        </a:buClr>
                        <a:buSzPts val="1000"/>
                        <a:buFont typeface="Arial"/>
                        <a:buNone/>
                      </a:pPr>
                      <a:r>
                        <a:rPr lang="en" sz="1200" b="1" u="none" strike="noStrike" cap="none" dirty="0">
                          <a:latin typeface="Questrial"/>
                          <a:ea typeface="Questrial"/>
                          <a:cs typeface="Questrial"/>
                          <a:sym typeface="Questrial"/>
                        </a:rPr>
                        <a:t>Project Description</a:t>
                      </a:r>
                      <a:endParaRPr sz="12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0B050"/>
                    </a:solidFill>
                  </a:tcPr>
                </a:tc>
                <a:extLst>
                  <a:ext uri="{0D108BD9-81ED-4DB2-BD59-A6C34878D82A}">
                    <a16:rowId xmlns:a16="http://schemas.microsoft.com/office/drawing/2014/main" val="10000"/>
                  </a:ext>
                </a:extLst>
              </a:tr>
              <a:tr h="1140666">
                <a:tc>
                  <a:txBody>
                    <a:bodyPr/>
                    <a:lstStyle/>
                    <a:p>
                      <a:pPr marL="0" marR="0" lvl="0" indent="0" algn="l" rtl="0">
                        <a:lnSpc>
                          <a:spcPct val="115000"/>
                        </a:lnSpc>
                        <a:spcBef>
                          <a:spcPts val="0"/>
                        </a:spcBef>
                        <a:spcAft>
                          <a:spcPts val="0"/>
                        </a:spcAft>
                        <a:buClr>
                          <a:srgbClr val="000000"/>
                        </a:buClr>
                        <a:buSzPts val="1000"/>
                        <a:buFont typeface="Arial"/>
                        <a:buNone/>
                      </a:pPr>
                      <a:r>
                        <a:rPr lang="en" sz="1000" b="1" u="none" strike="noStrike" cap="none" dirty="0">
                          <a:latin typeface="Questrial"/>
                          <a:ea typeface="Questrial"/>
                          <a:cs typeface="Questrial"/>
                          <a:sym typeface="Questrial"/>
                        </a:rPr>
                        <a:t>Project 4:</a:t>
                      </a:r>
                      <a:endParaRPr sz="1000" b="1" u="none" strike="noStrike" cap="none" dirty="0">
                        <a:latin typeface="Questrial"/>
                        <a:ea typeface="Questrial"/>
                        <a:cs typeface="Questrial"/>
                        <a:sym typeface="Questrial"/>
                      </a:endParaRPr>
                    </a:p>
                    <a:p>
                      <a:pPr marL="0" marR="0" lvl="0" indent="0" algn="l" rtl="0">
                        <a:lnSpc>
                          <a:spcPct val="115000"/>
                        </a:lnSpc>
                        <a:spcBef>
                          <a:spcPts val="0"/>
                        </a:spcBef>
                        <a:spcAft>
                          <a:spcPts val="0"/>
                        </a:spcAft>
                        <a:buClr>
                          <a:srgbClr val="000000"/>
                        </a:buClr>
                        <a:buSzPts val="1000"/>
                        <a:buFont typeface="Arial"/>
                        <a:buNone/>
                      </a:pPr>
                      <a:r>
                        <a:rPr lang="en-US" sz="1000" b="1" u="none" strike="noStrike" cap="none" dirty="0">
                          <a:latin typeface="Questrial"/>
                          <a:ea typeface="Questrial"/>
                          <a:cs typeface="Questrial"/>
                          <a:sym typeface="Questrial"/>
                        </a:rPr>
                        <a:t>Customer Acquisition Cost Optimization</a:t>
                      </a:r>
                      <a:endParaRPr sz="1000" b="1"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Marketing, Finance</a:t>
                      </a:r>
                      <a:endParaRPr sz="1000" u="none" strike="noStrike" cap="none" dirty="0">
                        <a:latin typeface="Questrial"/>
                        <a:ea typeface="Questrial"/>
                        <a:cs typeface="Questrial"/>
                        <a:sym typeface="Questrial"/>
                      </a:endParaRPr>
                    </a:p>
                  </a:txBody>
                  <a:tcPr marL="25400" marR="25400" marT="25400" marB="25400"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CFO is concerned about the customer acquisition cost incurred by the marketing team due to deep discounts and other benefits offered during promotional campaigns. This project aims to optimize customer acquisition costs by measuring the effectiveness of acquisition campaigns in relation to the lifetime value of customers. By analyzing the ROI of acquisition campaigns, OLIST can allocate marketing resources more efficiently and ensure that the cost of acquiring new customers aligns with their lifetime value.</a:t>
                      </a:r>
                    </a:p>
                  </a:txBody>
                  <a:tcPr marL="25400" marR="25400" marT="25400" marB="25400" anchor="ctr">
                    <a:lnL w="9525" cap="flat" cmpd="sng" algn="ctr">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957192">
                <a:tc>
                  <a:txBody>
                    <a:bodyPr/>
                    <a:lstStyle/>
                    <a:p>
                      <a:pPr marL="0" marR="0" lvl="0" indent="0" algn="l" rtl="0">
                        <a:lnSpc>
                          <a:spcPct val="115000"/>
                        </a:lnSpc>
                        <a:spcBef>
                          <a:spcPts val="0"/>
                        </a:spcBef>
                        <a:spcAft>
                          <a:spcPts val="0"/>
                        </a:spcAft>
                        <a:buClr>
                          <a:srgbClr val="000000"/>
                        </a:buClr>
                        <a:buSzPts val="1000"/>
                        <a:buFont typeface="Arial"/>
                        <a:buNone/>
                      </a:pPr>
                      <a:r>
                        <a:rPr lang="en" sz="1000" b="1" u="none" strike="noStrike" cap="none" dirty="0">
                          <a:latin typeface="Questrial"/>
                          <a:ea typeface="Questrial"/>
                          <a:cs typeface="Questrial"/>
                          <a:sym typeface="Questrial"/>
                        </a:rPr>
                        <a:t>Project 5:</a:t>
                      </a:r>
                      <a:endParaRPr sz="1000" b="1" u="none" strike="noStrike" cap="none" dirty="0">
                        <a:latin typeface="Questrial"/>
                        <a:ea typeface="Questrial"/>
                        <a:cs typeface="Questrial"/>
                        <a:sym typeface="Questrial"/>
                      </a:endParaRPr>
                    </a:p>
                    <a:p>
                      <a:pPr marL="0" marR="0" lvl="0" indent="0" algn="l" rtl="0">
                        <a:lnSpc>
                          <a:spcPct val="115000"/>
                        </a:lnSpc>
                        <a:spcBef>
                          <a:spcPts val="0"/>
                        </a:spcBef>
                        <a:spcAft>
                          <a:spcPts val="0"/>
                        </a:spcAft>
                        <a:buClr>
                          <a:srgbClr val="000000"/>
                        </a:buClr>
                        <a:buSzPts val="1000"/>
                        <a:buFont typeface="Arial"/>
                        <a:buNone/>
                      </a:pPr>
                      <a:r>
                        <a:rPr lang="en-US" sz="1000" b="1" u="none" strike="noStrike" cap="none" dirty="0">
                          <a:latin typeface="Questrial"/>
                          <a:ea typeface="Questrial"/>
                          <a:cs typeface="Questrial"/>
                          <a:sym typeface="Questrial"/>
                        </a:rPr>
                        <a:t>Fraud Detection</a:t>
                      </a:r>
                      <a:endParaRPr sz="1000" b="1"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Finance, Risk Management</a:t>
                      </a:r>
                      <a:endParaRPr sz="10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Fraud detection is crucial for safeguarding the organization against financial losses. This project focuses on using analytics to identify fraudulent transactions in areas such as merchant identity, advanced fee scams, wire transfer scams, and chargeback transactions. By leveraging the power of analytics, the CFO aims to enhance fraud prevention measures and protect the company's reputation and revenue.</a:t>
                      </a:r>
                      <a:endParaRPr sz="10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1140666">
                <a:tc>
                  <a:txBody>
                    <a:bodyPr/>
                    <a:lstStyle/>
                    <a:p>
                      <a:pPr marL="0" marR="0" lvl="0" indent="0" algn="l" rtl="0">
                        <a:lnSpc>
                          <a:spcPct val="115000"/>
                        </a:lnSpc>
                        <a:spcBef>
                          <a:spcPts val="0"/>
                        </a:spcBef>
                        <a:spcAft>
                          <a:spcPts val="0"/>
                        </a:spcAft>
                        <a:buClr>
                          <a:srgbClr val="000000"/>
                        </a:buClr>
                        <a:buSzPts val="1000"/>
                        <a:buFont typeface="Arial"/>
                        <a:buNone/>
                      </a:pPr>
                      <a:r>
                        <a:rPr lang="en" sz="1000" b="1" u="none" strike="noStrike" cap="none" dirty="0">
                          <a:latin typeface="Questrial"/>
                          <a:ea typeface="Questrial"/>
                          <a:cs typeface="Questrial"/>
                          <a:sym typeface="Questrial"/>
                        </a:rPr>
                        <a:t>Project 6:</a:t>
                      </a:r>
                      <a:endParaRPr sz="1000" b="1" u="none" strike="noStrike" cap="none" dirty="0">
                        <a:latin typeface="Questrial"/>
                        <a:ea typeface="Questrial"/>
                        <a:cs typeface="Questrial"/>
                        <a:sym typeface="Questrial"/>
                      </a:endParaRPr>
                    </a:p>
                    <a:p>
                      <a:pPr marL="0" marR="0" lvl="0" indent="0" algn="l" rtl="0">
                        <a:lnSpc>
                          <a:spcPct val="115000"/>
                        </a:lnSpc>
                        <a:spcBef>
                          <a:spcPts val="0"/>
                        </a:spcBef>
                        <a:spcAft>
                          <a:spcPts val="0"/>
                        </a:spcAft>
                        <a:buClr>
                          <a:srgbClr val="000000"/>
                        </a:buClr>
                        <a:buSzPts val="1000"/>
                        <a:buFont typeface="Arial"/>
                        <a:buNone/>
                      </a:pPr>
                      <a:r>
                        <a:rPr lang="en-US" sz="1000" b="1" u="none" strike="noStrike" cap="none" dirty="0">
                          <a:latin typeface="Questrial"/>
                          <a:ea typeface="Questrial"/>
                          <a:cs typeface="Questrial"/>
                          <a:sym typeface="Questrial"/>
                        </a:rPr>
                        <a:t>Price Optimization</a:t>
                      </a:r>
                      <a:endParaRPr sz="1000" b="1"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Sales, Revenue Management</a:t>
                      </a:r>
                      <a:endParaRPr sz="10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Pricing plays a vital role in revenue generation for an e-commerce organization. This project aims to develop a price optimization algorithm that takes into account factors such as customer location, customer attitudes, competitor pricing, and customer segmentation. The algorithm will enable the sales team to determine the optimal pricing strategy to maximize sales and revenue. By leveraging data science techniques, OLIST can make informed pricing decisions and adapt to market dynamics to drive profitability.</a:t>
                      </a:r>
                      <a:endParaRPr sz="1000"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27081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cxnSp>
        <p:nvCxnSpPr>
          <p:cNvPr id="123" name="Google Shape;123;p27"/>
          <p:cNvCxnSpPr/>
          <p:nvPr/>
        </p:nvCxnSpPr>
        <p:spPr>
          <a:xfrm flipH="1">
            <a:off x="3633850" y="1059150"/>
            <a:ext cx="7800" cy="3219000"/>
          </a:xfrm>
          <a:prstGeom prst="straightConnector1">
            <a:avLst/>
          </a:prstGeom>
          <a:noFill/>
          <a:ln w="9525" cap="flat" cmpd="sng">
            <a:solidFill>
              <a:srgbClr val="666666"/>
            </a:solidFill>
            <a:prstDash val="dash"/>
            <a:round/>
            <a:headEnd type="none" w="sm" len="sm"/>
            <a:tailEnd type="none" w="sm" len="sm"/>
          </a:ln>
        </p:spPr>
      </p:cxnSp>
      <p:cxnSp>
        <p:nvCxnSpPr>
          <p:cNvPr id="124" name="Google Shape;124;p27"/>
          <p:cNvCxnSpPr/>
          <p:nvPr/>
        </p:nvCxnSpPr>
        <p:spPr>
          <a:xfrm>
            <a:off x="1310400" y="2678775"/>
            <a:ext cx="4661100" cy="10800"/>
          </a:xfrm>
          <a:prstGeom prst="straightConnector1">
            <a:avLst/>
          </a:prstGeom>
          <a:noFill/>
          <a:ln w="9525" cap="flat" cmpd="sng">
            <a:solidFill>
              <a:srgbClr val="666666"/>
            </a:solidFill>
            <a:prstDash val="dash"/>
            <a:round/>
            <a:headEnd type="none" w="sm" len="sm"/>
            <a:tailEnd type="none" w="sm" len="sm"/>
          </a:ln>
        </p:spPr>
      </p:cxnSp>
      <p:cxnSp>
        <p:nvCxnSpPr>
          <p:cNvPr id="125" name="Google Shape;125;p27"/>
          <p:cNvCxnSpPr/>
          <p:nvPr/>
        </p:nvCxnSpPr>
        <p:spPr>
          <a:xfrm>
            <a:off x="1244525" y="1016925"/>
            <a:ext cx="21000" cy="3348600"/>
          </a:xfrm>
          <a:prstGeom prst="straightConnector1">
            <a:avLst/>
          </a:prstGeom>
          <a:noFill/>
          <a:ln w="9525" cap="flat" cmpd="sng">
            <a:solidFill>
              <a:srgbClr val="0B5394"/>
            </a:solidFill>
            <a:prstDash val="solid"/>
            <a:round/>
            <a:headEnd type="stealth" w="med" len="med"/>
            <a:tailEnd type="none" w="sm" len="sm"/>
          </a:ln>
        </p:spPr>
      </p:cxnSp>
      <p:cxnSp>
        <p:nvCxnSpPr>
          <p:cNvPr id="126" name="Google Shape;126;p27"/>
          <p:cNvCxnSpPr/>
          <p:nvPr/>
        </p:nvCxnSpPr>
        <p:spPr>
          <a:xfrm flipH="1">
            <a:off x="1280675" y="4348325"/>
            <a:ext cx="4617000" cy="2400"/>
          </a:xfrm>
          <a:prstGeom prst="straightConnector1">
            <a:avLst/>
          </a:prstGeom>
          <a:noFill/>
          <a:ln w="9525" cap="flat" cmpd="sng">
            <a:solidFill>
              <a:srgbClr val="0B5394"/>
            </a:solidFill>
            <a:prstDash val="solid"/>
            <a:round/>
            <a:headEnd type="stealth" w="med" len="med"/>
            <a:tailEnd type="none" w="sm" len="sm"/>
          </a:ln>
        </p:spPr>
      </p:cxnSp>
      <p:sp>
        <p:nvSpPr>
          <p:cNvPr id="127" name="Google Shape;127;p27"/>
          <p:cNvSpPr txBox="1"/>
          <p:nvPr/>
        </p:nvSpPr>
        <p:spPr>
          <a:xfrm>
            <a:off x="239600" y="2468175"/>
            <a:ext cx="1076100" cy="41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1">
                <a:latin typeface="Questrial"/>
                <a:ea typeface="Questrial"/>
                <a:cs typeface="Questrial"/>
                <a:sym typeface="Questrial"/>
              </a:rPr>
              <a:t>Strategic Value</a:t>
            </a:r>
            <a:endParaRPr sz="1300" b="1">
              <a:latin typeface="Questrial"/>
              <a:ea typeface="Questrial"/>
              <a:cs typeface="Questrial"/>
              <a:sym typeface="Questrial"/>
            </a:endParaRPr>
          </a:p>
        </p:txBody>
      </p:sp>
      <p:sp>
        <p:nvSpPr>
          <p:cNvPr id="128" name="Google Shape;128;p27"/>
          <p:cNvSpPr txBox="1"/>
          <p:nvPr/>
        </p:nvSpPr>
        <p:spPr>
          <a:xfrm>
            <a:off x="2088000" y="4293300"/>
            <a:ext cx="3169200" cy="415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Questrial"/>
                <a:ea typeface="Questrial"/>
                <a:cs typeface="Questrial"/>
                <a:sym typeface="Questrial"/>
              </a:rPr>
              <a:t>Feasibility + Complexity</a:t>
            </a:r>
            <a:endParaRPr b="1">
              <a:latin typeface="Questrial"/>
              <a:ea typeface="Questrial"/>
              <a:cs typeface="Questrial"/>
              <a:sym typeface="Questrial"/>
            </a:endParaRPr>
          </a:p>
          <a:p>
            <a:pPr marL="0" marR="0" lvl="0" indent="0" algn="ctr" rtl="0">
              <a:lnSpc>
                <a:spcPct val="100000"/>
              </a:lnSpc>
              <a:spcBef>
                <a:spcPts val="0"/>
              </a:spcBef>
              <a:spcAft>
                <a:spcPts val="0"/>
              </a:spcAft>
              <a:buClr>
                <a:srgbClr val="000000"/>
              </a:buClr>
              <a:buSzPts val="1400"/>
              <a:buFont typeface="Arial"/>
              <a:buNone/>
            </a:pPr>
            <a:endParaRPr b="1">
              <a:latin typeface="Questrial"/>
              <a:ea typeface="Questrial"/>
              <a:cs typeface="Questrial"/>
              <a:sym typeface="Questrial"/>
            </a:endParaRPr>
          </a:p>
        </p:txBody>
      </p:sp>
      <p:sp>
        <p:nvSpPr>
          <p:cNvPr id="129" name="Google Shape;129;p27"/>
          <p:cNvSpPr txBox="1"/>
          <p:nvPr/>
        </p:nvSpPr>
        <p:spPr>
          <a:xfrm>
            <a:off x="642950" y="901350"/>
            <a:ext cx="746100" cy="15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i="0" u="none" strike="noStrike" cap="none">
                <a:solidFill>
                  <a:srgbClr val="000000"/>
                </a:solidFill>
                <a:latin typeface="Questrial"/>
                <a:ea typeface="Questrial"/>
                <a:cs typeface="Questrial"/>
                <a:sym typeface="Questrial"/>
              </a:rPr>
              <a:t>HIGH</a:t>
            </a:r>
            <a:endParaRPr sz="1200" i="0" u="none" strike="noStrike" cap="none">
              <a:solidFill>
                <a:srgbClr val="000000"/>
              </a:solidFill>
              <a:latin typeface="Questrial"/>
              <a:ea typeface="Questrial"/>
              <a:cs typeface="Questrial"/>
              <a:sym typeface="Questrial"/>
            </a:endParaRPr>
          </a:p>
        </p:txBody>
      </p:sp>
      <p:sp>
        <p:nvSpPr>
          <p:cNvPr id="130" name="Google Shape;130;p27"/>
          <p:cNvSpPr txBox="1"/>
          <p:nvPr/>
        </p:nvSpPr>
        <p:spPr>
          <a:xfrm>
            <a:off x="1280675" y="4293300"/>
            <a:ext cx="608700" cy="216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i="0" u="none" strike="noStrike" cap="none">
                <a:solidFill>
                  <a:srgbClr val="000000"/>
                </a:solidFill>
                <a:latin typeface="Questrial"/>
                <a:ea typeface="Questrial"/>
                <a:cs typeface="Questrial"/>
                <a:sym typeface="Questrial"/>
              </a:rPr>
              <a:t>LOW</a:t>
            </a:r>
            <a:endParaRPr sz="1200" i="0" u="none" strike="noStrike" cap="none">
              <a:solidFill>
                <a:srgbClr val="000000"/>
              </a:solidFill>
              <a:latin typeface="Questrial"/>
              <a:ea typeface="Questrial"/>
              <a:cs typeface="Questrial"/>
              <a:sym typeface="Questrial"/>
            </a:endParaRPr>
          </a:p>
        </p:txBody>
      </p:sp>
      <p:sp>
        <p:nvSpPr>
          <p:cNvPr id="131" name="Google Shape;131;p27"/>
          <p:cNvSpPr txBox="1"/>
          <p:nvPr/>
        </p:nvSpPr>
        <p:spPr>
          <a:xfrm>
            <a:off x="711650" y="4049275"/>
            <a:ext cx="608700" cy="216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i="0" u="none" strike="noStrike" cap="none">
                <a:solidFill>
                  <a:srgbClr val="000000"/>
                </a:solidFill>
                <a:latin typeface="Questrial"/>
                <a:ea typeface="Questrial"/>
                <a:cs typeface="Questrial"/>
                <a:sym typeface="Questrial"/>
              </a:rPr>
              <a:t>LOW</a:t>
            </a:r>
            <a:endParaRPr sz="1200" i="0" u="none" strike="noStrike" cap="none">
              <a:solidFill>
                <a:srgbClr val="000000"/>
              </a:solidFill>
              <a:latin typeface="Questrial"/>
              <a:ea typeface="Questrial"/>
              <a:cs typeface="Questrial"/>
              <a:sym typeface="Questrial"/>
            </a:endParaRPr>
          </a:p>
        </p:txBody>
      </p:sp>
      <p:sp>
        <p:nvSpPr>
          <p:cNvPr id="132" name="Google Shape;132;p27"/>
          <p:cNvSpPr txBox="1"/>
          <p:nvPr/>
        </p:nvSpPr>
        <p:spPr>
          <a:xfrm>
            <a:off x="65725" y="-19700"/>
            <a:ext cx="7717800" cy="336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 b="1" i="0" u="none" strike="noStrike" cap="none" dirty="0">
                <a:solidFill>
                  <a:srgbClr val="00B050"/>
                </a:solidFill>
                <a:latin typeface="Questrial"/>
                <a:ea typeface="Questrial"/>
                <a:cs typeface="Questrial"/>
                <a:sym typeface="Questrial"/>
              </a:rPr>
              <a:t>Data Science Opportunity Matrix below by modeling each of the six projects in terms of feasibility</a:t>
            </a:r>
            <a:r>
              <a:rPr lang="en" b="1" dirty="0">
                <a:solidFill>
                  <a:srgbClr val="00B050"/>
                </a:solidFill>
                <a:latin typeface="Questrial"/>
                <a:ea typeface="Questrial"/>
                <a:cs typeface="Questrial"/>
                <a:sym typeface="Questrial"/>
              </a:rPr>
              <a:t>, complexity, strategic and</a:t>
            </a:r>
            <a:r>
              <a:rPr lang="en" b="1" i="0" u="none" strike="noStrike" cap="none" dirty="0">
                <a:solidFill>
                  <a:srgbClr val="00B050"/>
                </a:solidFill>
                <a:latin typeface="Questrial"/>
                <a:ea typeface="Questrial"/>
                <a:cs typeface="Questrial"/>
                <a:sym typeface="Questrial"/>
              </a:rPr>
              <a:t> business value impact</a:t>
            </a:r>
            <a:r>
              <a:rPr lang="en" b="1" dirty="0">
                <a:solidFill>
                  <a:srgbClr val="00B050"/>
                </a:solidFill>
                <a:latin typeface="Questrial"/>
                <a:ea typeface="Questrial"/>
                <a:cs typeface="Questrial"/>
                <a:sym typeface="Questrial"/>
              </a:rPr>
              <a:t>.</a:t>
            </a:r>
            <a:endParaRPr sz="1600" b="1" i="0" u="none" strike="noStrike" cap="none" dirty="0">
              <a:solidFill>
                <a:srgbClr val="00B050"/>
              </a:solidFill>
              <a:latin typeface="Questrial"/>
              <a:ea typeface="Questrial"/>
              <a:cs typeface="Questrial"/>
              <a:sym typeface="Questrial"/>
            </a:endParaRPr>
          </a:p>
        </p:txBody>
      </p:sp>
      <p:graphicFrame>
        <p:nvGraphicFramePr>
          <p:cNvPr id="133" name="Google Shape;133;p27"/>
          <p:cNvGraphicFramePr/>
          <p:nvPr>
            <p:extLst>
              <p:ext uri="{D42A27DB-BD31-4B8C-83A1-F6EECF244321}">
                <p14:modId xmlns:p14="http://schemas.microsoft.com/office/powerpoint/2010/main" val="1133002843"/>
              </p:ext>
            </p:extLst>
          </p:nvPr>
        </p:nvGraphicFramePr>
        <p:xfrm>
          <a:off x="6425100" y="1348613"/>
          <a:ext cx="2791700" cy="1008510"/>
        </p:xfrm>
        <a:graphic>
          <a:graphicData uri="http://schemas.openxmlformats.org/drawingml/2006/table">
            <a:tbl>
              <a:tblPr>
                <a:noFill/>
                <a:tableStyleId>{176FB817-399E-4E18-9760-935D84C4852A}</a:tableStyleId>
              </a:tblPr>
              <a:tblGrid>
                <a:gridCol w="614925">
                  <a:extLst>
                    <a:ext uri="{9D8B030D-6E8A-4147-A177-3AD203B41FA5}">
                      <a16:colId xmlns:a16="http://schemas.microsoft.com/office/drawing/2014/main" val="20000"/>
                    </a:ext>
                  </a:extLst>
                </a:gridCol>
                <a:gridCol w="2176775">
                  <a:extLst>
                    <a:ext uri="{9D8B030D-6E8A-4147-A177-3AD203B41FA5}">
                      <a16:colId xmlns:a16="http://schemas.microsoft.com/office/drawing/2014/main" val="20001"/>
                    </a:ext>
                  </a:extLst>
                </a:gridCol>
              </a:tblGrid>
              <a:tr h="164375">
                <a:tc>
                  <a:txBody>
                    <a:bodyPr/>
                    <a:lstStyle/>
                    <a:p>
                      <a:pPr marL="0" marR="0" lvl="0" indent="0" algn="r" rtl="0">
                        <a:lnSpc>
                          <a:spcPct val="115000"/>
                        </a:lnSpc>
                        <a:spcBef>
                          <a:spcPts val="0"/>
                        </a:spcBef>
                        <a:spcAft>
                          <a:spcPts val="0"/>
                        </a:spcAft>
                        <a:buClr>
                          <a:srgbClr val="000000"/>
                        </a:buClr>
                        <a:buSzPts val="800"/>
                        <a:buFont typeface="Arial"/>
                        <a:buNone/>
                      </a:pPr>
                      <a:r>
                        <a:rPr lang="en" sz="800" b="1" u="none" strike="noStrike" cap="none" dirty="0">
                          <a:latin typeface="Questrial"/>
                          <a:ea typeface="Questrial"/>
                          <a:cs typeface="Questrial"/>
                          <a:sym typeface="Questrial"/>
                        </a:rPr>
                        <a:t>Project 1:</a:t>
                      </a:r>
                      <a:endParaRPr sz="800" b="1" u="none" strike="noStrike" cap="none" dirty="0">
                        <a:latin typeface="Questrial"/>
                        <a:ea typeface="Questrial"/>
                        <a:cs typeface="Questrial"/>
                        <a:sym typeface="Questrial"/>
                      </a:endParaRPr>
                    </a:p>
                  </a:txBody>
                  <a:tcPr marL="28575" marR="28575" marT="19050" marB="19050" anchor="b">
                    <a:lnL w="9525" cap="flat" cmpd="sng">
                      <a:solidFill>
                        <a:srgbClr val="CCCCCC">
                          <a:alpha val="0"/>
                        </a:srgbClr>
                      </a:solidFill>
                      <a:prstDash val="solid"/>
                      <a:round/>
                      <a:headEnd type="none" w="sm" len="sm"/>
                      <a:tailEnd type="none" w="sm" len="sm"/>
                    </a:lnL>
                    <a:lnR w="28575" cap="flat" cmpd="sng">
                      <a:solidFill>
                        <a:srgbClr val="00FF00">
                          <a:alpha val="0"/>
                        </a:srgbClr>
                      </a:solidFill>
                      <a:prstDash val="solid"/>
                      <a:round/>
                      <a:headEnd type="none" w="sm" len="sm"/>
                      <a:tailEnd type="none" w="sm" len="sm"/>
                    </a:lnR>
                    <a:lnT w="9525" cap="flat" cmpd="sng">
                      <a:solidFill>
                        <a:srgbClr val="CCCCCC">
                          <a:alpha val="0"/>
                        </a:srgbClr>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r>
                        <a:rPr lang="en-US" sz="800" u="none" strike="noStrike" cap="none" dirty="0">
                          <a:latin typeface="Questrial"/>
                          <a:ea typeface="Questrial"/>
                          <a:cs typeface="Questrial"/>
                          <a:sym typeface="Questrial"/>
                        </a:rPr>
                        <a:t>Delivery Date Prediction</a:t>
                      </a:r>
                      <a:endParaRPr sz="800" u="none" strike="noStrike" cap="none" dirty="0">
                        <a:latin typeface="Questrial"/>
                        <a:ea typeface="Questrial"/>
                        <a:cs typeface="Questrial"/>
                        <a:sym typeface="Questrial"/>
                      </a:endParaRPr>
                    </a:p>
                  </a:txBody>
                  <a:tcPr marL="28575" marR="28575" marT="19050" marB="19050" anchor="b">
                    <a:lnL w="28575" cap="flat" cmpd="sng">
                      <a:solidFill>
                        <a:srgbClr val="00FF00">
                          <a:alpha val="0"/>
                        </a:srgbClr>
                      </a:solidFill>
                      <a:prstDash val="solid"/>
                      <a:round/>
                      <a:headEnd type="none" w="sm" len="sm"/>
                      <a:tailEnd type="none" w="sm" len="sm"/>
                    </a:lnL>
                    <a:lnR w="28575" cap="flat" cmpd="sng">
                      <a:solidFill>
                        <a:srgbClr val="00FF00">
                          <a:alpha val="0"/>
                        </a:srgbClr>
                      </a:solidFill>
                      <a:prstDash val="solid"/>
                      <a:round/>
                      <a:headEnd type="none" w="sm" len="sm"/>
                      <a:tailEnd type="none" w="sm" len="sm"/>
                    </a:lnR>
                    <a:lnT w="28575" cap="flat" cmpd="sng">
                      <a:solidFill>
                        <a:srgbClr val="00FF00">
                          <a:alpha val="0"/>
                        </a:srgbClr>
                      </a:solidFill>
                      <a:prstDash val="solid"/>
                      <a:round/>
                      <a:headEnd type="none" w="sm" len="sm"/>
                      <a:tailEnd type="none" w="sm" len="sm"/>
                    </a:lnT>
                    <a:lnB w="28575" cap="flat" cmpd="sng">
                      <a:solidFill>
                        <a:srgbClr val="00FF00">
                          <a:alpha val="0"/>
                        </a:srgbClr>
                      </a:solidFill>
                      <a:prstDash val="solid"/>
                      <a:round/>
                      <a:headEnd type="none" w="sm" len="sm"/>
                      <a:tailEnd type="none" w="sm" len="sm"/>
                    </a:lnB>
                  </a:tcPr>
                </a:tc>
                <a:extLst>
                  <a:ext uri="{0D108BD9-81ED-4DB2-BD59-A6C34878D82A}">
                    <a16:rowId xmlns:a16="http://schemas.microsoft.com/office/drawing/2014/main" val="10000"/>
                  </a:ext>
                </a:extLst>
              </a:tr>
              <a:tr h="164375">
                <a:tc>
                  <a:txBody>
                    <a:bodyPr/>
                    <a:lstStyle/>
                    <a:p>
                      <a:pPr marL="0" marR="0" lvl="0" indent="0" algn="r" rtl="0">
                        <a:lnSpc>
                          <a:spcPct val="115000"/>
                        </a:lnSpc>
                        <a:spcBef>
                          <a:spcPts val="0"/>
                        </a:spcBef>
                        <a:spcAft>
                          <a:spcPts val="0"/>
                        </a:spcAft>
                        <a:buClr>
                          <a:srgbClr val="000000"/>
                        </a:buClr>
                        <a:buSzPts val="800"/>
                        <a:buFont typeface="Arial"/>
                        <a:buNone/>
                      </a:pPr>
                      <a:r>
                        <a:rPr lang="en" sz="800" b="1" u="none" strike="noStrike" cap="none">
                          <a:latin typeface="Questrial"/>
                          <a:ea typeface="Questrial"/>
                          <a:cs typeface="Questrial"/>
                          <a:sym typeface="Questrial"/>
                        </a:rPr>
                        <a:t>Project 2:</a:t>
                      </a:r>
                      <a:endParaRPr sz="800" b="1" u="none" strike="noStrike" cap="none">
                        <a:latin typeface="Questrial"/>
                        <a:ea typeface="Questrial"/>
                        <a:cs typeface="Questrial"/>
                        <a:sym typeface="Questrial"/>
                      </a:endParaRPr>
                    </a:p>
                  </a:txBody>
                  <a:tcPr marL="28575" marR="28575" marT="19050" marB="19050" anchor="b">
                    <a:lnL w="9525" cap="flat" cmpd="sng">
                      <a:solidFill>
                        <a:srgbClr val="CCCCCC">
                          <a:alpha val="0"/>
                        </a:srgbClr>
                      </a:solidFill>
                      <a:prstDash val="solid"/>
                      <a:round/>
                      <a:headEnd type="none" w="sm" len="sm"/>
                      <a:tailEnd type="none" w="sm" len="sm"/>
                    </a:lnL>
                    <a:lnR w="28575" cap="flat" cmpd="sng">
                      <a:solidFill>
                        <a:srgbClr val="00FF00">
                          <a:alpha val="0"/>
                        </a:srgbClr>
                      </a:solidFill>
                      <a:prstDash val="solid"/>
                      <a:round/>
                      <a:headEnd type="none" w="sm" len="sm"/>
                      <a:tailEnd type="none" w="sm" len="sm"/>
                    </a:lnR>
                    <a:lnT w="9525" cap="flat" cmpd="sng">
                      <a:solidFill>
                        <a:srgbClr val="CCCCCC">
                          <a:alpha val="0"/>
                        </a:srgbClr>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r>
                        <a:rPr lang="en-US" sz="800" u="none" strike="noStrike" cap="none" dirty="0">
                          <a:latin typeface="Questrial"/>
                          <a:ea typeface="Questrial"/>
                          <a:cs typeface="Questrial"/>
                          <a:sym typeface="Questrial"/>
                        </a:rPr>
                        <a:t>Sentiment Analysis</a:t>
                      </a:r>
                      <a:endParaRPr sz="800" u="none" strike="noStrike" cap="none" dirty="0">
                        <a:latin typeface="Questrial"/>
                        <a:ea typeface="Questrial"/>
                        <a:cs typeface="Questrial"/>
                        <a:sym typeface="Questrial"/>
                      </a:endParaRPr>
                    </a:p>
                  </a:txBody>
                  <a:tcPr marL="28575" marR="28575" marT="19050" marB="19050" anchor="b">
                    <a:lnL w="28575" cap="flat" cmpd="sng">
                      <a:solidFill>
                        <a:srgbClr val="00FF00">
                          <a:alpha val="0"/>
                        </a:srgbClr>
                      </a:solidFill>
                      <a:prstDash val="solid"/>
                      <a:round/>
                      <a:headEnd type="none" w="sm" len="sm"/>
                      <a:tailEnd type="none" w="sm" len="sm"/>
                    </a:lnL>
                    <a:lnR w="28575" cap="flat" cmpd="sng">
                      <a:solidFill>
                        <a:srgbClr val="00FF00">
                          <a:alpha val="0"/>
                        </a:srgbClr>
                      </a:solidFill>
                      <a:prstDash val="solid"/>
                      <a:round/>
                      <a:headEnd type="none" w="sm" len="sm"/>
                      <a:tailEnd type="none" w="sm" len="sm"/>
                    </a:lnR>
                    <a:lnT w="28575" cap="flat" cmpd="sng">
                      <a:solidFill>
                        <a:srgbClr val="00FF00">
                          <a:alpha val="0"/>
                        </a:srgbClr>
                      </a:solidFill>
                      <a:prstDash val="solid"/>
                      <a:round/>
                      <a:headEnd type="none" w="sm" len="sm"/>
                      <a:tailEnd type="none" w="sm" len="sm"/>
                    </a:lnT>
                    <a:lnB w="28575" cap="flat" cmpd="sng">
                      <a:solidFill>
                        <a:srgbClr val="00FF00">
                          <a:alpha val="0"/>
                        </a:srgbClr>
                      </a:solidFill>
                      <a:prstDash val="solid"/>
                      <a:round/>
                      <a:headEnd type="none" w="sm" len="sm"/>
                      <a:tailEnd type="none" w="sm" len="sm"/>
                    </a:lnB>
                  </a:tcPr>
                </a:tc>
                <a:extLst>
                  <a:ext uri="{0D108BD9-81ED-4DB2-BD59-A6C34878D82A}">
                    <a16:rowId xmlns:a16="http://schemas.microsoft.com/office/drawing/2014/main" val="10001"/>
                  </a:ext>
                </a:extLst>
              </a:tr>
              <a:tr h="164375">
                <a:tc>
                  <a:txBody>
                    <a:bodyPr/>
                    <a:lstStyle/>
                    <a:p>
                      <a:pPr marL="0" marR="0" lvl="0" indent="0" algn="r" rtl="0">
                        <a:lnSpc>
                          <a:spcPct val="115000"/>
                        </a:lnSpc>
                        <a:spcBef>
                          <a:spcPts val="0"/>
                        </a:spcBef>
                        <a:spcAft>
                          <a:spcPts val="0"/>
                        </a:spcAft>
                        <a:buClr>
                          <a:srgbClr val="000000"/>
                        </a:buClr>
                        <a:buSzPts val="800"/>
                        <a:buFont typeface="Arial"/>
                        <a:buNone/>
                      </a:pPr>
                      <a:r>
                        <a:rPr lang="en" sz="800" b="1" u="none" strike="noStrike" cap="none">
                          <a:latin typeface="Questrial"/>
                          <a:ea typeface="Questrial"/>
                          <a:cs typeface="Questrial"/>
                          <a:sym typeface="Questrial"/>
                        </a:rPr>
                        <a:t>Project 3:</a:t>
                      </a:r>
                      <a:endParaRPr sz="800" b="1" u="none" strike="noStrike" cap="none">
                        <a:latin typeface="Questrial"/>
                        <a:ea typeface="Questrial"/>
                        <a:cs typeface="Questrial"/>
                        <a:sym typeface="Questrial"/>
                      </a:endParaRPr>
                    </a:p>
                  </a:txBody>
                  <a:tcPr marL="28575" marR="28575" marT="19050" marB="19050" anchor="b">
                    <a:lnL w="9525" cap="flat" cmpd="sng">
                      <a:solidFill>
                        <a:srgbClr val="CCCCCC">
                          <a:alpha val="0"/>
                        </a:srgbClr>
                      </a:solidFill>
                      <a:prstDash val="solid"/>
                      <a:round/>
                      <a:headEnd type="none" w="sm" len="sm"/>
                      <a:tailEnd type="none" w="sm" len="sm"/>
                    </a:lnL>
                    <a:lnR w="28575" cap="flat" cmpd="sng">
                      <a:solidFill>
                        <a:srgbClr val="00FF00">
                          <a:alpha val="0"/>
                        </a:srgbClr>
                      </a:solidFill>
                      <a:prstDash val="solid"/>
                      <a:round/>
                      <a:headEnd type="none" w="sm" len="sm"/>
                      <a:tailEnd type="none" w="sm" len="sm"/>
                    </a:lnR>
                    <a:lnT w="9525" cap="flat" cmpd="sng">
                      <a:solidFill>
                        <a:srgbClr val="CCCCCC">
                          <a:alpha val="0"/>
                        </a:srgbClr>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r>
                        <a:rPr lang="en-US" sz="800" u="none" strike="noStrike" cap="none" dirty="0">
                          <a:latin typeface="Questrial"/>
                          <a:ea typeface="Questrial"/>
                          <a:cs typeface="Questrial"/>
                          <a:sym typeface="Questrial"/>
                        </a:rPr>
                        <a:t>Customer Churn</a:t>
                      </a:r>
                      <a:endParaRPr sz="800" u="none" strike="noStrike" cap="none" dirty="0">
                        <a:latin typeface="Questrial"/>
                        <a:ea typeface="Questrial"/>
                        <a:cs typeface="Questrial"/>
                        <a:sym typeface="Questrial"/>
                      </a:endParaRPr>
                    </a:p>
                  </a:txBody>
                  <a:tcPr marL="28575" marR="28575" marT="19050" marB="19050" anchor="b">
                    <a:lnL w="28575" cap="flat" cmpd="sng">
                      <a:solidFill>
                        <a:srgbClr val="00FF00">
                          <a:alpha val="0"/>
                        </a:srgbClr>
                      </a:solidFill>
                      <a:prstDash val="solid"/>
                      <a:round/>
                      <a:headEnd type="none" w="sm" len="sm"/>
                      <a:tailEnd type="none" w="sm" len="sm"/>
                    </a:lnL>
                    <a:lnR w="28575" cap="flat" cmpd="sng">
                      <a:solidFill>
                        <a:srgbClr val="00FF00">
                          <a:alpha val="0"/>
                        </a:srgbClr>
                      </a:solidFill>
                      <a:prstDash val="solid"/>
                      <a:round/>
                      <a:headEnd type="none" w="sm" len="sm"/>
                      <a:tailEnd type="none" w="sm" len="sm"/>
                    </a:lnR>
                    <a:lnT w="28575" cap="flat" cmpd="sng">
                      <a:solidFill>
                        <a:srgbClr val="00FF00">
                          <a:alpha val="0"/>
                        </a:srgbClr>
                      </a:solidFill>
                      <a:prstDash val="solid"/>
                      <a:round/>
                      <a:headEnd type="none" w="sm" len="sm"/>
                      <a:tailEnd type="none" w="sm" len="sm"/>
                    </a:lnT>
                    <a:lnB w="28575" cap="flat" cmpd="sng">
                      <a:solidFill>
                        <a:srgbClr val="00FF00">
                          <a:alpha val="0"/>
                        </a:srgbClr>
                      </a:solidFill>
                      <a:prstDash val="solid"/>
                      <a:round/>
                      <a:headEnd type="none" w="sm" len="sm"/>
                      <a:tailEnd type="none" w="sm" len="sm"/>
                    </a:lnB>
                  </a:tcPr>
                </a:tc>
                <a:extLst>
                  <a:ext uri="{0D108BD9-81ED-4DB2-BD59-A6C34878D82A}">
                    <a16:rowId xmlns:a16="http://schemas.microsoft.com/office/drawing/2014/main" val="10002"/>
                  </a:ext>
                </a:extLst>
              </a:tr>
              <a:tr h="120075">
                <a:tc>
                  <a:txBody>
                    <a:bodyPr/>
                    <a:lstStyle/>
                    <a:p>
                      <a:pPr marL="0" marR="0" lvl="0" indent="0" algn="r" rtl="0">
                        <a:lnSpc>
                          <a:spcPct val="115000"/>
                        </a:lnSpc>
                        <a:spcBef>
                          <a:spcPts val="0"/>
                        </a:spcBef>
                        <a:spcAft>
                          <a:spcPts val="0"/>
                        </a:spcAft>
                        <a:buClr>
                          <a:srgbClr val="000000"/>
                        </a:buClr>
                        <a:buSzPts val="800"/>
                        <a:buFont typeface="Arial"/>
                        <a:buNone/>
                      </a:pPr>
                      <a:r>
                        <a:rPr lang="en" sz="800" b="1" u="none" strike="noStrike" cap="none">
                          <a:latin typeface="Questrial"/>
                          <a:ea typeface="Questrial"/>
                          <a:cs typeface="Questrial"/>
                          <a:sym typeface="Questrial"/>
                        </a:rPr>
                        <a:t>Project 4:</a:t>
                      </a:r>
                      <a:endParaRPr sz="800" b="1" u="none" strike="noStrike" cap="none">
                        <a:latin typeface="Questrial"/>
                        <a:ea typeface="Questrial"/>
                        <a:cs typeface="Questrial"/>
                        <a:sym typeface="Questrial"/>
                      </a:endParaRPr>
                    </a:p>
                  </a:txBody>
                  <a:tcPr marL="28575" marR="28575" marT="19050" marB="19050" anchor="b">
                    <a:lnL w="9525" cap="flat" cmpd="sng">
                      <a:solidFill>
                        <a:srgbClr val="CCCCCC">
                          <a:alpha val="0"/>
                        </a:srgbClr>
                      </a:solidFill>
                      <a:prstDash val="solid"/>
                      <a:round/>
                      <a:headEnd type="none" w="sm" len="sm"/>
                      <a:tailEnd type="none" w="sm" len="sm"/>
                    </a:lnL>
                    <a:lnR w="28575" cap="flat" cmpd="sng">
                      <a:solidFill>
                        <a:srgbClr val="00FF00">
                          <a:alpha val="0"/>
                        </a:srgbClr>
                      </a:solidFill>
                      <a:prstDash val="solid"/>
                      <a:round/>
                      <a:headEnd type="none" w="sm" len="sm"/>
                      <a:tailEnd type="none" w="sm" len="sm"/>
                    </a:lnR>
                    <a:lnT w="9525" cap="flat" cmpd="sng">
                      <a:solidFill>
                        <a:srgbClr val="CCCCCC">
                          <a:alpha val="0"/>
                        </a:srgbClr>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r>
                        <a:rPr lang="en-US" sz="800" u="none" strike="noStrike" cap="none" dirty="0">
                          <a:latin typeface="Questrial"/>
                          <a:ea typeface="Questrial"/>
                          <a:cs typeface="Questrial"/>
                          <a:sym typeface="Questrial"/>
                        </a:rPr>
                        <a:t>Customer Acquisition Cost Optimization</a:t>
                      </a:r>
                      <a:endParaRPr sz="800" u="none" strike="noStrike" cap="none" dirty="0">
                        <a:latin typeface="Questrial"/>
                        <a:ea typeface="Questrial"/>
                        <a:cs typeface="Questrial"/>
                        <a:sym typeface="Questrial"/>
                      </a:endParaRPr>
                    </a:p>
                  </a:txBody>
                  <a:tcPr marL="28575" marR="28575" marT="19050" marB="19050" anchor="b">
                    <a:lnL w="28575" cap="flat" cmpd="sng">
                      <a:solidFill>
                        <a:srgbClr val="00FF00">
                          <a:alpha val="0"/>
                        </a:srgbClr>
                      </a:solidFill>
                      <a:prstDash val="solid"/>
                      <a:round/>
                      <a:headEnd type="none" w="sm" len="sm"/>
                      <a:tailEnd type="none" w="sm" len="sm"/>
                    </a:lnL>
                    <a:lnR w="28575" cap="flat" cmpd="sng">
                      <a:solidFill>
                        <a:srgbClr val="00FF00">
                          <a:alpha val="0"/>
                        </a:srgbClr>
                      </a:solidFill>
                      <a:prstDash val="solid"/>
                      <a:round/>
                      <a:headEnd type="none" w="sm" len="sm"/>
                      <a:tailEnd type="none" w="sm" len="sm"/>
                    </a:lnR>
                    <a:lnT w="28575" cap="flat" cmpd="sng">
                      <a:solidFill>
                        <a:srgbClr val="00FF00">
                          <a:alpha val="0"/>
                        </a:srgbClr>
                      </a:solidFill>
                      <a:prstDash val="solid"/>
                      <a:round/>
                      <a:headEnd type="none" w="sm" len="sm"/>
                      <a:tailEnd type="none" w="sm" len="sm"/>
                    </a:lnT>
                    <a:lnB w="28575" cap="flat" cmpd="sng">
                      <a:solidFill>
                        <a:srgbClr val="00FF00">
                          <a:alpha val="0"/>
                        </a:srgbClr>
                      </a:solidFill>
                      <a:prstDash val="solid"/>
                      <a:round/>
                      <a:headEnd type="none" w="sm" len="sm"/>
                      <a:tailEnd type="none" w="sm" len="sm"/>
                    </a:lnB>
                  </a:tcPr>
                </a:tc>
                <a:extLst>
                  <a:ext uri="{0D108BD9-81ED-4DB2-BD59-A6C34878D82A}">
                    <a16:rowId xmlns:a16="http://schemas.microsoft.com/office/drawing/2014/main" val="10003"/>
                  </a:ext>
                </a:extLst>
              </a:tr>
              <a:tr h="135275">
                <a:tc>
                  <a:txBody>
                    <a:bodyPr/>
                    <a:lstStyle/>
                    <a:p>
                      <a:pPr marL="0" marR="0" lvl="0" indent="0" algn="r" rtl="0">
                        <a:lnSpc>
                          <a:spcPct val="115000"/>
                        </a:lnSpc>
                        <a:spcBef>
                          <a:spcPts val="0"/>
                        </a:spcBef>
                        <a:spcAft>
                          <a:spcPts val="0"/>
                        </a:spcAft>
                        <a:buClr>
                          <a:srgbClr val="000000"/>
                        </a:buClr>
                        <a:buSzPts val="800"/>
                        <a:buFont typeface="Arial"/>
                        <a:buNone/>
                      </a:pPr>
                      <a:r>
                        <a:rPr lang="en" sz="800" b="1" u="none" strike="noStrike" cap="none">
                          <a:latin typeface="Questrial"/>
                          <a:ea typeface="Questrial"/>
                          <a:cs typeface="Questrial"/>
                          <a:sym typeface="Questrial"/>
                        </a:rPr>
                        <a:t>Project 5:</a:t>
                      </a:r>
                      <a:endParaRPr sz="800" b="1" u="none" strike="noStrike" cap="none">
                        <a:latin typeface="Questrial"/>
                        <a:ea typeface="Questrial"/>
                        <a:cs typeface="Questrial"/>
                        <a:sym typeface="Questrial"/>
                      </a:endParaRPr>
                    </a:p>
                  </a:txBody>
                  <a:tcPr marL="28575" marR="28575" marT="19050" marB="19050" anchor="b">
                    <a:lnL w="9525" cap="flat" cmpd="sng">
                      <a:solidFill>
                        <a:srgbClr val="CCCCCC">
                          <a:alpha val="0"/>
                        </a:srgbClr>
                      </a:solidFill>
                      <a:prstDash val="solid"/>
                      <a:round/>
                      <a:headEnd type="none" w="sm" len="sm"/>
                      <a:tailEnd type="none" w="sm" len="sm"/>
                    </a:lnL>
                    <a:lnR w="28575" cap="flat" cmpd="sng">
                      <a:solidFill>
                        <a:srgbClr val="00FF00">
                          <a:alpha val="0"/>
                        </a:srgbClr>
                      </a:solidFill>
                      <a:prstDash val="solid"/>
                      <a:round/>
                      <a:headEnd type="none" w="sm" len="sm"/>
                      <a:tailEnd type="none" w="sm" len="sm"/>
                    </a:lnR>
                    <a:lnT w="9525" cap="flat" cmpd="sng">
                      <a:solidFill>
                        <a:srgbClr val="CCCCCC">
                          <a:alpha val="0"/>
                        </a:srgbClr>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r>
                        <a:rPr lang="en-US" sz="800" u="none" strike="noStrike" cap="none" dirty="0">
                          <a:latin typeface="Questrial"/>
                          <a:ea typeface="Questrial"/>
                          <a:cs typeface="Questrial"/>
                          <a:sym typeface="Questrial"/>
                        </a:rPr>
                        <a:t>Fraud Detection</a:t>
                      </a:r>
                      <a:endParaRPr sz="800" u="none" strike="noStrike" cap="none" dirty="0">
                        <a:latin typeface="Questrial"/>
                        <a:ea typeface="Questrial"/>
                        <a:cs typeface="Questrial"/>
                        <a:sym typeface="Questrial"/>
                      </a:endParaRPr>
                    </a:p>
                  </a:txBody>
                  <a:tcPr marL="28575" marR="28575" marT="19050" marB="19050" anchor="b">
                    <a:lnL w="28575" cap="flat" cmpd="sng">
                      <a:solidFill>
                        <a:srgbClr val="00FF00">
                          <a:alpha val="0"/>
                        </a:srgbClr>
                      </a:solidFill>
                      <a:prstDash val="solid"/>
                      <a:round/>
                      <a:headEnd type="none" w="sm" len="sm"/>
                      <a:tailEnd type="none" w="sm" len="sm"/>
                    </a:lnL>
                    <a:lnR w="28575" cap="flat" cmpd="sng">
                      <a:solidFill>
                        <a:srgbClr val="00FF00">
                          <a:alpha val="0"/>
                        </a:srgbClr>
                      </a:solidFill>
                      <a:prstDash val="solid"/>
                      <a:round/>
                      <a:headEnd type="none" w="sm" len="sm"/>
                      <a:tailEnd type="none" w="sm" len="sm"/>
                    </a:lnR>
                    <a:lnT w="28575" cap="flat" cmpd="sng">
                      <a:solidFill>
                        <a:srgbClr val="00FF00">
                          <a:alpha val="0"/>
                        </a:srgbClr>
                      </a:solidFill>
                      <a:prstDash val="solid"/>
                      <a:round/>
                      <a:headEnd type="none" w="sm" len="sm"/>
                      <a:tailEnd type="none" w="sm" len="sm"/>
                    </a:lnT>
                    <a:lnB w="28575" cap="flat" cmpd="sng">
                      <a:solidFill>
                        <a:srgbClr val="00FF00">
                          <a:alpha val="0"/>
                        </a:srgbClr>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marR="0" lvl="0" indent="0" algn="r" rtl="0">
                        <a:lnSpc>
                          <a:spcPct val="115000"/>
                        </a:lnSpc>
                        <a:spcBef>
                          <a:spcPts val="0"/>
                        </a:spcBef>
                        <a:spcAft>
                          <a:spcPts val="0"/>
                        </a:spcAft>
                        <a:buClr>
                          <a:srgbClr val="000000"/>
                        </a:buClr>
                        <a:buSzPts val="800"/>
                        <a:buFont typeface="Arial"/>
                        <a:buNone/>
                      </a:pPr>
                      <a:r>
                        <a:rPr lang="en" sz="800" b="1" u="none" strike="noStrike" cap="none">
                          <a:latin typeface="Questrial"/>
                          <a:ea typeface="Questrial"/>
                          <a:cs typeface="Questrial"/>
                          <a:sym typeface="Questrial"/>
                        </a:rPr>
                        <a:t>Project 6:</a:t>
                      </a:r>
                      <a:endParaRPr sz="800" b="1" u="none" strike="noStrike" cap="none">
                        <a:latin typeface="Questrial"/>
                        <a:ea typeface="Questrial"/>
                        <a:cs typeface="Questrial"/>
                        <a:sym typeface="Questrial"/>
                      </a:endParaRPr>
                    </a:p>
                  </a:txBody>
                  <a:tcPr marL="28575" marR="28575" marT="19050" marB="19050" anchor="b">
                    <a:lnL w="9525" cap="flat" cmpd="sng">
                      <a:solidFill>
                        <a:srgbClr val="CCCCCC">
                          <a:alpha val="0"/>
                        </a:srgbClr>
                      </a:solidFill>
                      <a:prstDash val="solid"/>
                      <a:round/>
                      <a:headEnd type="none" w="sm" len="sm"/>
                      <a:tailEnd type="none" w="sm" len="sm"/>
                    </a:lnL>
                    <a:lnR w="28575" cap="flat" cmpd="sng">
                      <a:solidFill>
                        <a:srgbClr val="00FF00">
                          <a:alpha val="0"/>
                        </a:srgbClr>
                      </a:solidFill>
                      <a:prstDash val="solid"/>
                      <a:round/>
                      <a:headEnd type="none" w="sm" len="sm"/>
                      <a:tailEnd type="none" w="sm" len="sm"/>
                    </a:lnR>
                    <a:lnT w="9525" cap="flat" cmpd="sng">
                      <a:solidFill>
                        <a:srgbClr val="CCCCCC">
                          <a:alpha val="0"/>
                        </a:srgbClr>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r>
                        <a:rPr lang="en-US" sz="800" u="none" strike="noStrike" cap="none" dirty="0">
                          <a:latin typeface="Questrial"/>
                          <a:ea typeface="Questrial"/>
                          <a:cs typeface="Questrial"/>
                          <a:sym typeface="Questrial"/>
                        </a:rPr>
                        <a:t>Price Optimization</a:t>
                      </a:r>
                      <a:endParaRPr sz="800" u="none" strike="noStrike" cap="none" dirty="0">
                        <a:latin typeface="Questrial"/>
                        <a:ea typeface="Questrial"/>
                        <a:cs typeface="Questrial"/>
                        <a:sym typeface="Questrial"/>
                      </a:endParaRPr>
                    </a:p>
                  </a:txBody>
                  <a:tcPr marL="28575" marR="28575" marT="19050" marB="19050" anchor="b">
                    <a:lnL w="28575" cap="flat" cmpd="sng">
                      <a:solidFill>
                        <a:srgbClr val="00FF00">
                          <a:alpha val="0"/>
                        </a:srgbClr>
                      </a:solidFill>
                      <a:prstDash val="solid"/>
                      <a:round/>
                      <a:headEnd type="none" w="sm" len="sm"/>
                      <a:tailEnd type="none" w="sm" len="sm"/>
                    </a:lnL>
                    <a:lnR w="28575" cap="flat" cmpd="sng">
                      <a:solidFill>
                        <a:srgbClr val="00FF00">
                          <a:alpha val="0"/>
                        </a:srgbClr>
                      </a:solidFill>
                      <a:prstDash val="solid"/>
                      <a:round/>
                      <a:headEnd type="none" w="sm" len="sm"/>
                      <a:tailEnd type="none" w="sm" len="sm"/>
                    </a:lnR>
                    <a:lnT w="28575" cap="flat" cmpd="sng">
                      <a:solidFill>
                        <a:srgbClr val="00FF00">
                          <a:alpha val="0"/>
                        </a:srgbClr>
                      </a:solidFill>
                      <a:prstDash val="solid"/>
                      <a:round/>
                      <a:headEnd type="none" w="sm" len="sm"/>
                      <a:tailEnd type="none" w="sm" len="sm"/>
                    </a:lnT>
                    <a:lnB w="28575" cap="flat" cmpd="sng">
                      <a:solidFill>
                        <a:srgbClr val="00FF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34" name="Google Shape;134;p27"/>
          <p:cNvSpPr txBox="1"/>
          <p:nvPr/>
        </p:nvSpPr>
        <p:spPr>
          <a:xfrm>
            <a:off x="5721325" y="4293300"/>
            <a:ext cx="746100" cy="15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i="0" u="none" strike="noStrike" cap="none">
                <a:solidFill>
                  <a:srgbClr val="000000"/>
                </a:solidFill>
                <a:latin typeface="Questrial"/>
                <a:ea typeface="Questrial"/>
                <a:cs typeface="Questrial"/>
                <a:sym typeface="Questrial"/>
              </a:rPr>
              <a:t>HIGH</a:t>
            </a:r>
            <a:endParaRPr sz="1200" i="0" u="none" strike="noStrike" cap="none">
              <a:solidFill>
                <a:srgbClr val="000000"/>
              </a:solidFill>
              <a:latin typeface="Questrial"/>
              <a:ea typeface="Questrial"/>
              <a:cs typeface="Questrial"/>
              <a:sym typeface="Questrial"/>
            </a:endParaRPr>
          </a:p>
        </p:txBody>
      </p:sp>
      <p:sp>
        <p:nvSpPr>
          <p:cNvPr id="135" name="Google Shape;135;p27"/>
          <p:cNvSpPr/>
          <p:nvPr/>
        </p:nvSpPr>
        <p:spPr>
          <a:xfrm>
            <a:off x="7150787" y="3556500"/>
            <a:ext cx="248100" cy="245400"/>
          </a:xfrm>
          <a:prstGeom prst="ellipse">
            <a:avLst/>
          </a:prstGeom>
          <a:solidFill>
            <a:schemeClr val="accent4">
              <a:lumMod val="90000"/>
            </a:schemeClr>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1" i="0" u="none" strike="noStrike" cap="none" dirty="0">
              <a:solidFill>
                <a:srgbClr val="000000"/>
              </a:solidFill>
              <a:latin typeface="Arial"/>
              <a:ea typeface="Arial"/>
              <a:cs typeface="Arial"/>
              <a:sym typeface="Arial"/>
            </a:endParaRPr>
          </a:p>
        </p:txBody>
      </p:sp>
      <p:sp>
        <p:nvSpPr>
          <p:cNvPr id="136" name="Google Shape;136;p27"/>
          <p:cNvSpPr/>
          <p:nvPr/>
        </p:nvSpPr>
        <p:spPr>
          <a:xfrm>
            <a:off x="7070687" y="3874075"/>
            <a:ext cx="408300" cy="391200"/>
          </a:xfrm>
          <a:prstGeom prst="ellipse">
            <a:avLst/>
          </a:prstGeom>
          <a:solidFill>
            <a:srgbClr val="92D050"/>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1" i="0" u="none" strike="noStrike" cap="none">
              <a:solidFill>
                <a:srgbClr val="000000"/>
              </a:solidFill>
              <a:latin typeface="Arial"/>
              <a:ea typeface="Arial"/>
              <a:cs typeface="Arial"/>
              <a:sym typeface="Arial"/>
            </a:endParaRPr>
          </a:p>
        </p:txBody>
      </p:sp>
      <p:sp>
        <p:nvSpPr>
          <p:cNvPr id="137" name="Google Shape;137;p27"/>
          <p:cNvSpPr txBox="1"/>
          <p:nvPr/>
        </p:nvSpPr>
        <p:spPr>
          <a:xfrm>
            <a:off x="6811425" y="2981500"/>
            <a:ext cx="1699800" cy="33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1" u="sng">
                <a:latin typeface="Questrial"/>
                <a:ea typeface="Questrial"/>
                <a:cs typeface="Questrial"/>
                <a:sym typeface="Questrial"/>
              </a:rPr>
              <a:t>Business Value</a:t>
            </a:r>
            <a:endParaRPr sz="900" b="1" i="0" u="sng" strike="noStrike" cap="none">
              <a:solidFill>
                <a:srgbClr val="000000"/>
              </a:solidFill>
              <a:latin typeface="Questrial"/>
              <a:ea typeface="Questrial"/>
              <a:cs typeface="Questrial"/>
              <a:sym typeface="Questrial"/>
            </a:endParaRPr>
          </a:p>
        </p:txBody>
      </p:sp>
      <p:sp>
        <p:nvSpPr>
          <p:cNvPr id="138" name="Google Shape;138;p27"/>
          <p:cNvSpPr txBox="1"/>
          <p:nvPr/>
        </p:nvSpPr>
        <p:spPr>
          <a:xfrm>
            <a:off x="7440125" y="3237575"/>
            <a:ext cx="726000" cy="336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i="0" u="none" strike="noStrike" cap="none">
                <a:solidFill>
                  <a:srgbClr val="000000"/>
                </a:solidFill>
                <a:latin typeface="Questrial"/>
                <a:ea typeface="Questrial"/>
                <a:cs typeface="Questrial"/>
                <a:sym typeface="Questrial"/>
              </a:rPr>
              <a:t>Low</a:t>
            </a:r>
            <a:endParaRPr sz="1100" i="0" u="none" strike="noStrike" cap="none">
              <a:solidFill>
                <a:srgbClr val="000000"/>
              </a:solidFill>
              <a:latin typeface="Questrial"/>
              <a:ea typeface="Questrial"/>
              <a:cs typeface="Questrial"/>
              <a:sym typeface="Questrial"/>
            </a:endParaRPr>
          </a:p>
        </p:txBody>
      </p:sp>
      <p:sp>
        <p:nvSpPr>
          <p:cNvPr id="139" name="Google Shape;139;p27"/>
          <p:cNvSpPr txBox="1"/>
          <p:nvPr/>
        </p:nvSpPr>
        <p:spPr>
          <a:xfrm>
            <a:off x="7440125" y="3511050"/>
            <a:ext cx="726000" cy="336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i="0" u="none" strike="noStrike" cap="none">
                <a:solidFill>
                  <a:srgbClr val="000000"/>
                </a:solidFill>
                <a:latin typeface="Questrial"/>
                <a:ea typeface="Questrial"/>
                <a:cs typeface="Questrial"/>
                <a:sym typeface="Questrial"/>
              </a:rPr>
              <a:t>Medium</a:t>
            </a:r>
            <a:endParaRPr sz="1100" i="0" u="none" strike="noStrike" cap="none">
              <a:solidFill>
                <a:srgbClr val="000000"/>
              </a:solidFill>
              <a:latin typeface="Questrial"/>
              <a:ea typeface="Questrial"/>
              <a:cs typeface="Questrial"/>
              <a:sym typeface="Questrial"/>
            </a:endParaRPr>
          </a:p>
        </p:txBody>
      </p:sp>
      <p:sp>
        <p:nvSpPr>
          <p:cNvPr id="140" name="Google Shape;140;p27"/>
          <p:cNvSpPr txBox="1"/>
          <p:nvPr/>
        </p:nvSpPr>
        <p:spPr>
          <a:xfrm>
            <a:off x="7440125" y="3901525"/>
            <a:ext cx="726000" cy="336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i="0" u="none" strike="noStrike" cap="none">
                <a:solidFill>
                  <a:srgbClr val="000000"/>
                </a:solidFill>
                <a:latin typeface="Questrial"/>
                <a:ea typeface="Questrial"/>
                <a:cs typeface="Questrial"/>
                <a:sym typeface="Questrial"/>
              </a:rPr>
              <a:t>High</a:t>
            </a:r>
            <a:endParaRPr sz="1100" i="0" u="none" strike="noStrike" cap="none">
              <a:solidFill>
                <a:srgbClr val="000000"/>
              </a:solidFill>
              <a:latin typeface="Questrial"/>
              <a:ea typeface="Questrial"/>
              <a:cs typeface="Questrial"/>
              <a:sym typeface="Questrial"/>
            </a:endParaRPr>
          </a:p>
        </p:txBody>
      </p:sp>
      <p:sp>
        <p:nvSpPr>
          <p:cNvPr id="141" name="Google Shape;141;p27"/>
          <p:cNvSpPr/>
          <p:nvPr/>
        </p:nvSpPr>
        <p:spPr>
          <a:xfrm>
            <a:off x="7190837" y="3327125"/>
            <a:ext cx="168000" cy="157200"/>
          </a:xfrm>
          <a:prstGeom prst="ellipse">
            <a:avLst/>
          </a:prstGeom>
          <a:solidFill>
            <a:srgbClr val="B6D7A8"/>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1" i="0" u="none" strike="noStrike" cap="none">
              <a:solidFill>
                <a:srgbClr val="000000"/>
              </a:solidFill>
              <a:latin typeface="Arial"/>
              <a:ea typeface="Arial"/>
              <a:cs typeface="Arial"/>
              <a:sym typeface="Arial"/>
            </a:endParaRPr>
          </a:p>
        </p:txBody>
      </p:sp>
      <p:sp>
        <p:nvSpPr>
          <p:cNvPr id="2" name="Google Shape;136;p27">
            <a:extLst>
              <a:ext uri="{FF2B5EF4-FFF2-40B4-BE49-F238E27FC236}">
                <a16:creationId xmlns:a16="http://schemas.microsoft.com/office/drawing/2014/main" id="{865E4C9C-9195-CAFE-2892-249D0BF6FEDB}"/>
              </a:ext>
            </a:extLst>
          </p:cNvPr>
          <p:cNvSpPr/>
          <p:nvPr/>
        </p:nvSpPr>
        <p:spPr>
          <a:xfrm>
            <a:off x="4848900" y="1399900"/>
            <a:ext cx="408300" cy="391200"/>
          </a:xfrm>
          <a:prstGeom prst="ellipse">
            <a:avLst/>
          </a:prstGeom>
          <a:solidFill>
            <a:srgbClr val="92D050"/>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dirty="0">
                <a:solidFill>
                  <a:srgbClr val="000000"/>
                </a:solidFill>
                <a:latin typeface="Arial"/>
                <a:ea typeface="Arial"/>
                <a:cs typeface="Arial"/>
                <a:sym typeface="Arial"/>
              </a:rPr>
              <a:t>P1</a:t>
            </a:r>
            <a:endParaRPr sz="900" b="1" i="0" u="none" strike="noStrike" cap="none" dirty="0">
              <a:solidFill>
                <a:srgbClr val="000000"/>
              </a:solidFill>
              <a:latin typeface="Arial"/>
              <a:ea typeface="Arial"/>
              <a:cs typeface="Arial"/>
              <a:sym typeface="Arial"/>
            </a:endParaRPr>
          </a:p>
        </p:txBody>
      </p:sp>
      <p:sp>
        <p:nvSpPr>
          <p:cNvPr id="3" name="Google Shape;136;p27">
            <a:extLst>
              <a:ext uri="{FF2B5EF4-FFF2-40B4-BE49-F238E27FC236}">
                <a16:creationId xmlns:a16="http://schemas.microsoft.com/office/drawing/2014/main" id="{1524714E-2079-4640-3D89-DA69DCC44642}"/>
              </a:ext>
            </a:extLst>
          </p:cNvPr>
          <p:cNvSpPr/>
          <p:nvPr/>
        </p:nvSpPr>
        <p:spPr>
          <a:xfrm>
            <a:off x="4360975" y="1906219"/>
            <a:ext cx="408300" cy="391200"/>
          </a:xfrm>
          <a:prstGeom prst="ellipse">
            <a:avLst/>
          </a:prstGeom>
          <a:solidFill>
            <a:srgbClr val="92D050"/>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dirty="0">
                <a:solidFill>
                  <a:srgbClr val="000000"/>
                </a:solidFill>
                <a:latin typeface="Arial"/>
                <a:ea typeface="Arial"/>
                <a:cs typeface="Arial"/>
                <a:sym typeface="Arial"/>
              </a:rPr>
              <a:t>P2</a:t>
            </a:r>
            <a:endParaRPr sz="900" b="1" i="0" u="none" strike="noStrike" cap="none" dirty="0">
              <a:solidFill>
                <a:srgbClr val="000000"/>
              </a:solidFill>
              <a:latin typeface="Arial"/>
              <a:ea typeface="Arial"/>
              <a:cs typeface="Arial"/>
              <a:sym typeface="Arial"/>
            </a:endParaRPr>
          </a:p>
        </p:txBody>
      </p:sp>
      <p:sp>
        <p:nvSpPr>
          <p:cNvPr id="4" name="Google Shape;141;p27">
            <a:extLst>
              <a:ext uri="{FF2B5EF4-FFF2-40B4-BE49-F238E27FC236}">
                <a16:creationId xmlns:a16="http://schemas.microsoft.com/office/drawing/2014/main" id="{F8B2296C-48BF-A94F-1752-BAACF89C9120}"/>
              </a:ext>
            </a:extLst>
          </p:cNvPr>
          <p:cNvSpPr/>
          <p:nvPr/>
        </p:nvSpPr>
        <p:spPr>
          <a:xfrm>
            <a:off x="4039600" y="3690150"/>
            <a:ext cx="168000" cy="157200"/>
          </a:xfrm>
          <a:prstGeom prst="ellipse">
            <a:avLst/>
          </a:prstGeom>
          <a:solidFill>
            <a:srgbClr val="B6D7A8"/>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700" b="1" dirty="0"/>
              <a:t>P</a:t>
            </a:r>
            <a:r>
              <a:rPr lang="en-US" sz="700" b="1" i="0" u="none" strike="noStrike" cap="none" dirty="0">
                <a:solidFill>
                  <a:srgbClr val="000000"/>
                </a:solidFill>
                <a:latin typeface="Arial"/>
                <a:ea typeface="Arial"/>
                <a:cs typeface="Arial"/>
                <a:sym typeface="Arial"/>
              </a:rPr>
              <a:t>6</a:t>
            </a:r>
            <a:endParaRPr sz="700" b="1" i="0" u="none" strike="noStrike" cap="none" dirty="0">
              <a:solidFill>
                <a:srgbClr val="000000"/>
              </a:solidFill>
              <a:latin typeface="Arial"/>
              <a:ea typeface="Arial"/>
              <a:cs typeface="Arial"/>
              <a:sym typeface="Arial"/>
            </a:endParaRPr>
          </a:p>
        </p:txBody>
      </p:sp>
      <p:sp>
        <p:nvSpPr>
          <p:cNvPr id="5" name="Google Shape;141;p27">
            <a:extLst>
              <a:ext uri="{FF2B5EF4-FFF2-40B4-BE49-F238E27FC236}">
                <a16:creationId xmlns:a16="http://schemas.microsoft.com/office/drawing/2014/main" id="{BA2AAE2B-55A0-9530-E686-09F2B2ED4841}"/>
              </a:ext>
            </a:extLst>
          </p:cNvPr>
          <p:cNvSpPr/>
          <p:nvPr/>
        </p:nvSpPr>
        <p:spPr>
          <a:xfrm>
            <a:off x="4397125" y="3169925"/>
            <a:ext cx="168000" cy="157200"/>
          </a:xfrm>
          <a:prstGeom prst="ellipse">
            <a:avLst/>
          </a:prstGeom>
          <a:solidFill>
            <a:srgbClr val="B6D7A8"/>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700" b="1" dirty="0"/>
              <a:t>P</a:t>
            </a:r>
            <a:r>
              <a:rPr lang="en-US" sz="700" b="1" i="0" u="none" strike="noStrike" cap="none" dirty="0">
                <a:solidFill>
                  <a:srgbClr val="000000"/>
                </a:solidFill>
                <a:latin typeface="Arial"/>
                <a:ea typeface="Arial"/>
                <a:cs typeface="Arial"/>
                <a:sym typeface="Arial"/>
              </a:rPr>
              <a:t>5</a:t>
            </a:r>
            <a:endParaRPr sz="700" b="1" i="0" u="none" strike="noStrike" cap="none" dirty="0">
              <a:solidFill>
                <a:srgbClr val="000000"/>
              </a:solidFill>
              <a:latin typeface="Arial"/>
              <a:ea typeface="Arial"/>
              <a:cs typeface="Arial"/>
              <a:sym typeface="Arial"/>
            </a:endParaRPr>
          </a:p>
        </p:txBody>
      </p:sp>
      <p:sp>
        <p:nvSpPr>
          <p:cNvPr id="6" name="Google Shape;135;p27">
            <a:extLst>
              <a:ext uri="{FF2B5EF4-FFF2-40B4-BE49-F238E27FC236}">
                <a16:creationId xmlns:a16="http://schemas.microsoft.com/office/drawing/2014/main" id="{C816050D-BDAA-3492-C1C5-F92911C7CD14}"/>
              </a:ext>
            </a:extLst>
          </p:cNvPr>
          <p:cNvSpPr/>
          <p:nvPr/>
        </p:nvSpPr>
        <p:spPr>
          <a:xfrm>
            <a:off x="2979487" y="3047225"/>
            <a:ext cx="248100" cy="245400"/>
          </a:xfrm>
          <a:prstGeom prst="ellipse">
            <a:avLst/>
          </a:prstGeom>
          <a:solidFill>
            <a:schemeClr val="accent4">
              <a:lumMod val="90000"/>
            </a:schemeClr>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dirty="0">
                <a:solidFill>
                  <a:srgbClr val="000000"/>
                </a:solidFill>
                <a:latin typeface="Arial"/>
                <a:ea typeface="Arial"/>
                <a:cs typeface="Arial"/>
                <a:sym typeface="Arial"/>
              </a:rPr>
              <a:t>P3</a:t>
            </a:r>
            <a:endParaRPr sz="900" b="1" i="0" u="none" strike="noStrike" cap="none" dirty="0">
              <a:solidFill>
                <a:srgbClr val="000000"/>
              </a:solidFill>
              <a:latin typeface="Arial"/>
              <a:ea typeface="Arial"/>
              <a:cs typeface="Arial"/>
              <a:sym typeface="Arial"/>
            </a:endParaRPr>
          </a:p>
        </p:txBody>
      </p:sp>
      <p:sp>
        <p:nvSpPr>
          <p:cNvPr id="7" name="Google Shape;135;p27">
            <a:extLst>
              <a:ext uri="{FF2B5EF4-FFF2-40B4-BE49-F238E27FC236}">
                <a16:creationId xmlns:a16="http://schemas.microsoft.com/office/drawing/2014/main" id="{A23BEC34-0581-81EE-9DE2-E9D6FA71EE16}"/>
              </a:ext>
            </a:extLst>
          </p:cNvPr>
          <p:cNvSpPr/>
          <p:nvPr/>
        </p:nvSpPr>
        <p:spPr>
          <a:xfrm>
            <a:off x="3111850" y="3442113"/>
            <a:ext cx="248100" cy="245400"/>
          </a:xfrm>
          <a:prstGeom prst="ellipse">
            <a:avLst/>
          </a:prstGeom>
          <a:solidFill>
            <a:schemeClr val="accent4">
              <a:lumMod val="90000"/>
            </a:schemeClr>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dirty="0">
                <a:solidFill>
                  <a:srgbClr val="000000"/>
                </a:solidFill>
                <a:latin typeface="Arial"/>
                <a:ea typeface="Arial"/>
                <a:cs typeface="Arial"/>
                <a:sym typeface="Arial"/>
              </a:rPr>
              <a:t>P4</a:t>
            </a:r>
            <a:endParaRPr sz="9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EEE7815F-384B-7895-3B14-58EC31E5E040}"/>
              </a:ext>
            </a:extLst>
          </p:cNvPr>
          <p:cNvGraphicFramePr>
            <a:graphicFrameLocks noGrp="1"/>
          </p:cNvGraphicFramePr>
          <p:nvPr>
            <p:extLst>
              <p:ext uri="{D42A27DB-BD31-4B8C-83A1-F6EECF244321}">
                <p14:modId xmlns:p14="http://schemas.microsoft.com/office/powerpoint/2010/main" val="2019787615"/>
              </p:ext>
            </p:extLst>
          </p:nvPr>
        </p:nvGraphicFramePr>
        <p:xfrm>
          <a:off x="1025611" y="1152526"/>
          <a:ext cx="6536725" cy="3416297"/>
        </p:xfrm>
        <a:graphic>
          <a:graphicData uri="http://schemas.openxmlformats.org/drawingml/2006/table">
            <a:tbl>
              <a:tblPr/>
              <a:tblGrid>
                <a:gridCol w="1307345">
                  <a:extLst>
                    <a:ext uri="{9D8B030D-6E8A-4147-A177-3AD203B41FA5}">
                      <a16:colId xmlns:a16="http://schemas.microsoft.com/office/drawing/2014/main" val="1066864929"/>
                    </a:ext>
                  </a:extLst>
                </a:gridCol>
                <a:gridCol w="1307345">
                  <a:extLst>
                    <a:ext uri="{9D8B030D-6E8A-4147-A177-3AD203B41FA5}">
                      <a16:colId xmlns:a16="http://schemas.microsoft.com/office/drawing/2014/main" val="80567711"/>
                    </a:ext>
                  </a:extLst>
                </a:gridCol>
                <a:gridCol w="1307345">
                  <a:extLst>
                    <a:ext uri="{9D8B030D-6E8A-4147-A177-3AD203B41FA5}">
                      <a16:colId xmlns:a16="http://schemas.microsoft.com/office/drawing/2014/main" val="2237326617"/>
                    </a:ext>
                  </a:extLst>
                </a:gridCol>
                <a:gridCol w="1307345">
                  <a:extLst>
                    <a:ext uri="{9D8B030D-6E8A-4147-A177-3AD203B41FA5}">
                      <a16:colId xmlns:a16="http://schemas.microsoft.com/office/drawing/2014/main" val="1630240834"/>
                    </a:ext>
                  </a:extLst>
                </a:gridCol>
                <a:gridCol w="1307345">
                  <a:extLst>
                    <a:ext uri="{9D8B030D-6E8A-4147-A177-3AD203B41FA5}">
                      <a16:colId xmlns:a16="http://schemas.microsoft.com/office/drawing/2014/main" val="524485017"/>
                    </a:ext>
                  </a:extLst>
                </a:gridCol>
              </a:tblGrid>
              <a:tr h="414836">
                <a:tc>
                  <a:txBody>
                    <a:bodyPr/>
                    <a:lstStyle/>
                    <a:p>
                      <a:pPr fontAlgn="b"/>
                      <a:r>
                        <a:rPr lang="en-US" sz="1100" b="1" dirty="0">
                          <a:effectLst/>
                        </a:rPr>
                        <a:t>Project</a:t>
                      </a:r>
                    </a:p>
                  </a:txBody>
                  <a:tcPr marL="73206" marR="73206" marT="36603" marB="36603"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en-US" sz="1100" b="1">
                          <a:effectLst/>
                        </a:rPr>
                        <a:t>Feasibility</a:t>
                      </a:r>
                    </a:p>
                  </a:txBody>
                  <a:tcPr marL="73206" marR="73206" marT="36603" marB="36603"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en-US" sz="1100" b="1">
                          <a:effectLst/>
                        </a:rPr>
                        <a:t>Complexity</a:t>
                      </a:r>
                    </a:p>
                  </a:txBody>
                  <a:tcPr marL="73206" marR="73206" marT="36603" marB="36603"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en-US" sz="1100" b="1">
                          <a:effectLst/>
                        </a:rPr>
                        <a:t>Strategic Value</a:t>
                      </a:r>
                    </a:p>
                  </a:txBody>
                  <a:tcPr marL="73206" marR="73206" marT="36603" marB="36603"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en-US" sz="1100" b="1">
                          <a:effectLst/>
                        </a:rPr>
                        <a:t>Business Value</a:t>
                      </a:r>
                    </a:p>
                  </a:txBody>
                  <a:tcPr marL="73206" marR="73206" marT="36603" marB="36603"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53691421"/>
                  </a:ext>
                </a:extLst>
              </a:tr>
              <a:tr h="585651">
                <a:tc>
                  <a:txBody>
                    <a:bodyPr/>
                    <a:lstStyle/>
                    <a:p>
                      <a:pPr fontAlgn="base"/>
                      <a:r>
                        <a:rPr lang="en-US" sz="1100">
                          <a:effectLst/>
                        </a:rPr>
                        <a:t>Delivery Date Prediction</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Medium</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Medium</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Medium</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2235429941"/>
                  </a:ext>
                </a:extLst>
              </a:tr>
              <a:tr h="414836">
                <a:tc>
                  <a:txBody>
                    <a:bodyPr/>
                    <a:lstStyle/>
                    <a:p>
                      <a:pPr fontAlgn="base"/>
                      <a:r>
                        <a:rPr lang="en-US" sz="1100">
                          <a:effectLst/>
                        </a:rPr>
                        <a:t>Sentiment Analysis</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Low</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959707957"/>
                  </a:ext>
                </a:extLst>
              </a:tr>
              <a:tr h="414836">
                <a:tc>
                  <a:txBody>
                    <a:bodyPr/>
                    <a:lstStyle/>
                    <a:p>
                      <a:pPr fontAlgn="base"/>
                      <a:r>
                        <a:rPr lang="en-US" sz="1100">
                          <a:effectLst/>
                        </a:rPr>
                        <a:t>Customer Churn</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Medium</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dirty="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2525340533"/>
                  </a:ext>
                </a:extLst>
              </a:tr>
              <a:tr h="756466">
                <a:tc>
                  <a:txBody>
                    <a:bodyPr/>
                    <a:lstStyle/>
                    <a:p>
                      <a:pPr fontAlgn="base"/>
                      <a:r>
                        <a:rPr lang="en-US" sz="1100">
                          <a:effectLst/>
                        </a:rPr>
                        <a:t>Customer Acquisition Cost Optimization</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Medium</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Medium</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67124663"/>
                  </a:ext>
                </a:extLst>
              </a:tr>
              <a:tr h="414836">
                <a:tc>
                  <a:txBody>
                    <a:bodyPr/>
                    <a:lstStyle/>
                    <a:p>
                      <a:pPr fontAlgn="base"/>
                      <a:r>
                        <a:rPr lang="en-US" sz="1100">
                          <a:effectLst/>
                        </a:rPr>
                        <a:t>Fraud Detection</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455432610"/>
                  </a:ext>
                </a:extLst>
              </a:tr>
              <a:tr h="414836">
                <a:tc>
                  <a:txBody>
                    <a:bodyPr/>
                    <a:lstStyle/>
                    <a:p>
                      <a:pPr fontAlgn="base"/>
                      <a:r>
                        <a:rPr lang="en-US" sz="1100">
                          <a:effectLst/>
                        </a:rPr>
                        <a:t>Price Optimization</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solidFill>
                      <a:srgbClr val="F7F7F8"/>
                    </a:solidFill>
                  </a:tcPr>
                </a:tc>
                <a:tc>
                  <a:txBody>
                    <a:bodyPr/>
                    <a:lstStyle/>
                    <a:p>
                      <a:pPr fontAlgn="base"/>
                      <a:r>
                        <a:rPr lang="en-US" sz="1100" dirty="0">
                          <a:effectLst/>
                        </a:rPr>
                        <a:t>High</a:t>
                      </a:r>
                    </a:p>
                  </a:txBody>
                  <a:tcPr marL="73206" marR="73206" marT="36603" marB="3660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571703216"/>
                  </a:ext>
                </a:extLst>
              </a:tr>
            </a:tbl>
          </a:graphicData>
        </a:graphic>
      </p:graphicFrame>
      <p:sp>
        <p:nvSpPr>
          <p:cNvPr id="8" name="Google Shape;132;p27">
            <a:extLst>
              <a:ext uri="{FF2B5EF4-FFF2-40B4-BE49-F238E27FC236}">
                <a16:creationId xmlns:a16="http://schemas.microsoft.com/office/drawing/2014/main" id="{38CBFB5A-CF71-1B9F-4F77-2BF48FE2B49F}"/>
              </a:ext>
            </a:extLst>
          </p:cNvPr>
          <p:cNvSpPr txBox="1"/>
          <p:nvPr/>
        </p:nvSpPr>
        <p:spPr>
          <a:xfrm>
            <a:off x="65725" y="-19700"/>
            <a:ext cx="7717800" cy="773462"/>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 b="1" i="0" u="none" strike="noStrike" cap="none" dirty="0">
                <a:solidFill>
                  <a:srgbClr val="00B050"/>
                </a:solidFill>
                <a:latin typeface="Questrial"/>
                <a:ea typeface="Questrial"/>
                <a:cs typeface="Questrial"/>
                <a:sym typeface="Questrial"/>
              </a:rPr>
              <a:t>Data Science Opportunity Matrix below by modeling each of the six projects in terms of feasibility</a:t>
            </a:r>
            <a:r>
              <a:rPr lang="en" b="1" dirty="0">
                <a:solidFill>
                  <a:srgbClr val="00B050"/>
                </a:solidFill>
                <a:latin typeface="Questrial"/>
                <a:ea typeface="Questrial"/>
                <a:cs typeface="Questrial"/>
                <a:sym typeface="Questrial"/>
              </a:rPr>
              <a:t>, complexity, strategic and</a:t>
            </a:r>
            <a:r>
              <a:rPr lang="en" b="1" i="0" u="none" strike="noStrike" cap="none" dirty="0">
                <a:solidFill>
                  <a:srgbClr val="00B050"/>
                </a:solidFill>
                <a:latin typeface="Questrial"/>
                <a:ea typeface="Questrial"/>
                <a:cs typeface="Questrial"/>
                <a:sym typeface="Questrial"/>
              </a:rPr>
              <a:t> business value impact</a:t>
            </a:r>
            <a:r>
              <a:rPr lang="en" b="1" dirty="0">
                <a:solidFill>
                  <a:srgbClr val="00B050"/>
                </a:solidFill>
                <a:latin typeface="Questrial"/>
                <a:ea typeface="Questrial"/>
                <a:cs typeface="Questrial"/>
                <a:sym typeface="Questrial"/>
              </a:rPr>
              <a:t>.</a:t>
            </a:r>
            <a:endParaRPr sz="1600" b="1" i="0" u="none" strike="noStrike" cap="none" dirty="0">
              <a:solidFill>
                <a:srgbClr val="00B050"/>
              </a:solidFill>
              <a:latin typeface="Questrial"/>
              <a:ea typeface="Questrial"/>
              <a:cs typeface="Questrial"/>
              <a:sym typeface="Questrial"/>
            </a:endParaRPr>
          </a:p>
        </p:txBody>
      </p:sp>
    </p:spTree>
    <p:extLst>
      <p:ext uri="{BB962C8B-B14F-4D97-AF65-F5344CB8AC3E}">
        <p14:creationId xmlns:p14="http://schemas.microsoft.com/office/powerpoint/2010/main" val="1254808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aphicFrame>
        <p:nvGraphicFramePr>
          <p:cNvPr id="151" name="Google Shape;151;p28"/>
          <p:cNvGraphicFramePr/>
          <p:nvPr>
            <p:extLst>
              <p:ext uri="{D42A27DB-BD31-4B8C-83A1-F6EECF244321}">
                <p14:modId xmlns:p14="http://schemas.microsoft.com/office/powerpoint/2010/main" val="2103620080"/>
              </p:ext>
            </p:extLst>
          </p:nvPr>
        </p:nvGraphicFramePr>
        <p:xfrm>
          <a:off x="214350" y="1024400"/>
          <a:ext cx="8589625" cy="3626169"/>
        </p:xfrm>
        <a:graphic>
          <a:graphicData uri="http://schemas.openxmlformats.org/drawingml/2006/table">
            <a:tbl>
              <a:tblPr>
                <a:noFill/>
                <a:tableStyleId>{58C65776-282E-4D7A-92DA-6DF953E9000F}</a:tableStyleId>
              </a:tblPr>
              <a:tblGrid>
                <a:gridCol w="948125">
                  <a:extLst>
                    <a:ext uri="{9D8B030D-6E8A-4147-A177-3AD203B41FA5}">
                      <a16:colId xmlns:a16="http://schemas.microsoft.com/office/drawing/2014/main" val="20000"/>
                    </a:ext>
                  </a:extLst>
                </a:gridCol>
                <a:gridCol w="1972675">
                  <a:extLst>
                    <a:ext uri="{9D8B030D-6E8A-4147-A177-3AD203B41FA5}">
                      <a16:colId xmlns:a16="http://schemas.microsoft.com/office/drawing/2014/main" val="20001"/>
                    </a:ext>
                  </a:extLst>
                </a:gridCol>
                <a:gridCol w="1142875">
                  <a:extLst>
                    <a:ext uri="{9D8B030D-6E8A-4147-A177-3AD203B41FA5}">
                      <a16:colId xmlns:a16="http://schemas.microsoft.com/office/drawing/2014/main" val="20002"/>
                    </a:ext>
                  </a:extLst>
                </a:gridCol>
                <a:gridCol w="995925">
                  <a:extLst>
                    <a:ext uri="{9D8B030D-6E8A-4147-A177-3AD203B41FA5}">
                      <a16:colId xmlns:a16="http://schemas.microsoft.com/office/drawing/2014/main" val="20003"/>
                    </a:ext>
                  </a:extLst>
                </a:gridCol>
                <a:gridCol w="1202000">
                  <a:extLst>
                    <a:ext uri="{9D8B030D-6E8A-4147-A177-3AD203B41FA5}">
                      <a16:colId xmlns:a16="http://schemas.microsoft.com/office/drawing/2014/main" val="20004"/>
                    </a:ext>
                  </a:extLst>
                </a:gridCol>
                <a:gridCol w="1232375">
                  <a:extLst>
                    <a:ext uri="{9D8B030D-6E8A-4147-A177-3AD203B41FA5}">
                      <a16:colId xmlns:a16="http://schemas.microsoft.com/office/drawing/2014/main" val="20005"/>
                    </a:ext>
                  </a:extLst>
                </a:gridCol>
                <a:gridCol w="1095650">
                  <a:extLst>
                    <a:ext uri="{9D8B030D-6E8A-4147-A177-3AD203B41FA5}">
                      <a16:colId xmlns:a16="http://schemas.microsoft.com/office/drawing/2014/main" val="20006"/>
                    </a:ext>
                  </a:extLst>
                </a:gridCol>
              </a:tblGrid>
              <a:tr h="312850">
                <a:tc>
                  <a:txBody>
                    <a:bodyPr/>
                    <a:lstStyle/>
                    <a:p>
                      <a:pPr marL="0" marR="0" lvl="0" indent="0" algn="ctr" rtl="0">
                        <a:lnSpc>
                          <a:spcPct val="115000"/>
                        </a:lnSpc>
                        <a:spcBef>
                          <a:spcPts val="0"/>
                        </a:spcBef>
                        <a:spcAft>
                          <a:spcPts val="0"/>
                        </a:spcAft>
                        <a:buClr>
                          <a:srgbClr val="000000"/>
                        </a:buClr>
                        <a:buSzPts val="1100"/>
                        <a:buFont typeface="Arial"/>
                        <a:buNone/>
                      </a:pPr>
                      <a:r>
                        <a:rPr lang="en" sz="1100" b="1" u="none" strike="noStrike" cap="none" dirty="0">
                          <a:latin typeface="Questrial"/>
                          <a:ea typeface="Questrial"/>
                          <a:cs typeface="Questrial"/>
                          <a:sym typeface="Questrial"/>
                        </a:rPr>
                        <a:t>Order</a:t>
                      </a:r>
                      <a:endParaRPr sz="1100" u="none" strike="noStrike" cap="none" dirty="0">
                        <a:latin typeface="Questrial"/>
                        <a:ea typeface="Questrial"/>
                        <a:cs typeface="Questrial"/>
                        <a:sym typeface="Questrial"/>
                      </a:endParaRPr>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dirty="0">
                          <a:latin typeface="Questrial"/>
                          <a:ea typeface="Questrial"/>
                          <a:cs typeface="Questrial"/>
                          <a:sym typeface="Questrial"/>
                        </a:rPr>
                        <a:t>Project</a:t>
                      </a:r>
                      <a:endParaRPr sz="1100" u="none" strike="noStrike" cap="none" dirty="0">
                        <a:latin typeface="Questrial"/>
                        <a:ea typeface="Questrial"/>
                        <a:cs typeface="Questrial"/>
                        <a:sym typeface="Questrial"/>
                      </a:endParaRPr>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b="1" dirty="0">
                          <a:latin typeface="Questrial"/>
                          <a:ea typeface="Questrial"/>
                          <a:cs typeface="Questrial"/>
                          <a:sym typeface="Questrial"/>
                        </a:rPr>
                        <a:t>Data feasibility</a:t>
                      </a:r>
                      <a:endParaRPr sz="1200" b="1" u="none" strike="noStrike" cap="none" dirty="0">
                        <a:latin typeface="Questrial"/>
                        <a:ea typeface="Questrial"/>
                        <a:cs typeface="Questrial"/>
                        <a:sym typeface="Questria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b="1" dirty="0">
                          <a:latin typeface="Questrial"/>
                          <a:ea typeface="Questrial"/>
                          <a:cs typeface="Questrial"/>
                          <a:sym typeface="Questrial"/>
                        </a:rPr>
                        <a:t>Infrastructure feasibility</a:t>
                      </a:r>
                      <a:endParaRPr sz="1200" b="1" u="none" strike="noStrike" cap="none" dirty="0">
                        <a:latin typeface="Questrial"/>
                        <a:ea typeface="Questrial"/>
                        <a:cs typeface="Questrial"/>
                        <a:sym typeface="Questria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b="1" dirty="0">
                          <a:latin typeface="Questrial"/>
                          <a:ea typeface="Questrial"/>
                          <a:cs typeface="Questrial"/>
                          <a:sym typeface="Questrial"/>
                        </a:rPr>
                        <a:t>Complexity</a:t>
                      </a:r>
                      <a:endParaRPr sz="1200" b="1" u="none" strike="noStrike" cap="none" dirty="0">
                        <a:latin typeface="Questrial"/>
                        <a:ea typeface="Questrial"/>
                        <a:cs typeface="Questrial"/>
                        <a:sym typeface="Questria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b="1" dirty="0">
                          <a:latin typeface="Questrial"/>
                          <a:ea typeface="Questrial"/>
                          <a:cs typeface="Questrial"/>
                          <a:sym typeface="Questrial"/>
                        </a:rPr>
                        <a:t>Strategic Value</a:t>
                      </a:r>
                      <a:endParaRPr sz="1200" b="1" u="none" strike="noStrike" cap="none" dirty="0">
                        <a:latin typeface="Questrial"/>
                        <a:ea typeface="Questrial"/>
                        <a:cs typeface="Questrial"/>
                        <a:sym typeface="Questria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b="1" dirty="0">
                          <a:latin typeface="Questrial"/>
                          <a:ea typeface="Questrial"/>
                          <a:cs typeface="Questrial"/>
                          <a:sym typeface="Questrial"/>
                        </a:rPr>
                        <a:t>Business Value</a:t>
                      </a:r>
                      <a:endParaRPr sz="1200" b="1" u="none" strike="noStrike" cap="none" dirty="0">
                        <a:latin typeface="Questrial"/>
                        <a:ea typeface="Questrial"/>
                        <a:cs typeface="Questrial"/>
                        <a:sym typeface="Questria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0"/>
                  </a:ext>
                </a:extLst>
              </a:tr>
              <a:tr h="400050">
                <a:tc>
                  <a:txBody>
                    <a:bodyPr/>
                    <a:lstStyle/>
                    <a:p>
                      <a:pPr marL="0" marR="0" lvl="0" indent="0" algn="ctr" rtl="0">
                        <a:lnSpc>
                          <a:spcPct val="115000"/>
                        </a:lnSpc>
                        <a:spcBef>
                          <a:spcPts val="0"/>
                        </a:spcBef>
                        <a:spcAft>
                          <a:spcPts val="0"/>
                        </a:spcAft>
                        <a:buClr>
                          <a:srgbClr val="000000"/>
                        </a:buClr>
                        <a:buSzPts val="1100"/>
                        <a:buFont typeface="Arial"/>
                        <a:buNone/>
                      </a:pPr>
                      <a:endParaRPr sz="1100" b="1" u="none" strike="noStrike" cap="none">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endParaRPr sz="1100" b="1" u="none" strike="noStrike" cap="none">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000"/>
                        <a:buFont typeface="Arial"/>
                        <a:buNone/>
                      </a:pPr>
                      <a:r>
                        <a:rPr lang="en" sz="1000" b="1" u="none" strike="noStrike" cap="none">
                          <a:latin typeface="Questrial"/>
                          <a:ea typeface="Questrial"/>
                          <a:cs typeface="Questrial"/>
                          <a:sym typeface="Questrial"/>
                        </a:rPr>
                        <a:t>1=Low; 5=High</a:t>
                      </a:r>
                      <a:endParaRPr sz="1000" b="1" u="none" strike="noStrike" cap="none">
                        <a:latin typeface="Questrial"/>
                        <a:ea typeface="Questrial"/>
                        <a:cs typeface="Questrial"/>
                        <a:sym typeface="Questrial"/>
                      </a:endParaRPr>
                    </a:p>
                  </a:txBody>
                  <a:tcPr marL="28575" marR="28575" marT="19050" marB="19050"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000"/>
                        <a:buFont typeface="Arial"/>
                        <a:buNone/>
                      </a:pPr>
                      <a:r>
                        <a:rPr lang="en" sz="1000" b="1" u="none" strike="noStrike" cap="none" dirty="0">
                          <a:latin typeface="Questrial"/>
                          <a:ea typeface="Questrial"/>
                          <a:cs typeface="Questrial"/>
                          <a:sym typeface="Questrial"/>
                        </a:rPr>
                        <a:t>1=High; 5=Low</a:t>
                      </a:r>
                      <a:endParaRPr sz="1000" b="1" u="none" strike="noStrike" cap="none" dirty="0">
                        <a:latin typeface="Questrial"/>
                        <a:ea typeface="Questrial"/>
                        <a:cs typeface="Questrial"/>
                        <a:sym typeface="Questrial"/>
                      </a:endParaRPr>
                    </a:p>
                  </a:txBody>
                  <a:tcPr marL="28575" marR="28575" marT="19050" marB="19050"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000"/>
                        <a:buFont typeface="Arial"/>
                        <a:buNone/>
                      </a:pPr>
                      <a:r>
                        <a:rPr lang="en" sz="1000" b="1" u="none" strike="noStrike" cap="none">
                          <a:latin typeface="Questrial"/>
                          <a:ea typeface="Questrial"/>
                          <a:cs typeface="Questrial"/>
                          <a:sym typeface="Questrial"/>
                        </a:rPr>
                        <a:t>1=High; 5=Low</a:t>
                      </a:r>
                      <a:endParaRPr sz="1000" b="1" u="none" strike="noStrike" cap="none">
                        <a:latin typeface="Questrial"/>
                        <a:ea typeface="Questrial"/>
                        <a:cs typeface="Questrial"/>
                        <a:sym typeface="Questrial"/>
                      </a:endParaRPr>
                    </a:p>
                  </a:txBody>
                  <a:tcPr marL="28575" marR="28575" marT="19050" marB="19050"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000"/>
                        <a:buFont typeface="Arial"/>
                        <a:buNone/>
                      </a:pPr>
                      <a:r>
                        <a:rPr lang="en" sz="1000" b="1" u="none" strike="noStrike" cap="none">
                          <a:latin typeface="Questrial"/>
                          <a:ea typeface="Questrial"/>
                          <a:cs typeface="Questrial"/>
                          <a:sym typeface="Questrial"/>
                        </a:rPr>
                        <a:t>1=Low; 5=High</a:t>
                      </a:r>
                      <a:endParaRPr sz="1000" b="1" u="none" strike="noStrike" cap="none">
                        <a:latin typeface="Questrial"/>
                        <a:ea typeface="Questrial"/>
                        <a:cs typeface="Questrial"/>
                        <a:sym typeface="Questrial"/>
                      </a:endParaRPr>
                    </a:p>
                  </a:txBody>
                  <a:tcPr marL="28575" marR="28575" marT="19050" marB="19050"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000"/>
                        <a:buFont typeface="Arial"/>
                        <a:buNone/>
                      </a:pPr>
                      <a:r>
                        <a:rPr lang="en" sz="1000" b="1" u="none" strike="noStrike" cap="none">
                          <a:latin typeface="Questrial"/>
                          <a:ea typeface="Questrial"/>
                          <a:cs typeface="Questrial"/>
                          <a:sym typeface="Questrial"/>
                        </a:rPr>
                        <a:t>1=Small; 5=Large</a:t>
                      </a:r>
                      <a:endParaRPr sz="1000" b="1" u="none" strike="noStrike" cap="none">
                        <a:latin typeface="Questrial"/>
                        <a:ea typeface="Questrial"/>
                        <a:cs typeface="Questrial"/>
                        <a:sym typeface="Questrial"/>
                      </a:endParaRPr>
                    </a:p>
                  </a:txBody>
                  <a:tcPr marL="28575" marR="28575" marT="19050" marB="19050" anchor="b">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extLst>
                  <a:ext uri="{0D108BD9-81ED-4DB2-BD59-A6C34878D82A}">
                    <a16:rowId xmlns:a16="http://schemas.microsoft.com/office/drawing/2014/main" val="10001"/>
                  </a:ext>
                </a:extLst>
              </a:tr>
              <a:tr h="400050">
                <a:tc>
                  <a:txBody>
                    <a:bodyPr/>
                    <a:lstStyle/>
                    <a:p>
                      <a:pPr marL="0" marR="0" lvl="0" indent="0" algn="ctr" rtl="0">
                        <a:lnSpc>
                          <a:spcPct val="115000"/>
                        </a:lnSpc>
                        <a:spcBef>
                          <a:spcPts val="0"/>
                        </a:spcBef>
                        <a:spcAft>
                          <a:spcPts val="0"/>
                        </a:spcAft>
                        <a:buClr>
                          <a:srgbClr val="000000"/>
                        </a:buClr>
                        <a:buSzPts val="1600"/>
                        <a:buFont typeface="Arial"/>
                        <a:buNone/>
                      </a:pPr>
                      <a:r>
                        <a:rPr lang="en" sz="1600" b="1" u="none" strike="noStrike" cap="none">
                          <a:latin typeface="Questrial"/>
                          <a:ea typeface="Questrial"/>
                          <a:cs typeface="Questrial"/>
                          <a:sym typeface="Questrial"/>
                        </a:rPr>
                        <a:t>First</a:t>
                      </a:r>
                      <a:endParaRPr sz="1600" b="1" u="none" strike="noStrike" cap="none">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dirty="0">
                          <a:latin typeface="Questrial"/>
                          <a:ea typeface="Questrial"/>
                          <a:cs typeface="Questrial"/>
                          <a:sym typeface="Questrial"/>
                        </a:rPr>
                        <a:t>Sentiment Analysis</a:t>
                      </a:r>
                      <a:endParaRPr sz="1600" b="1"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lgn="ctr">
                      <a:solidFill>
                        <a:srgbClr val="D9D9D9"/>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algn="ctr" fontAlgn="base"/>
                      <a:r>
                        <a:rPr lang="en-US" dirty="0">
                          <a:effectLst/>
                        </a:rPr>
                        <a:t>5</a:t>
                      </a:r>
                    </a:p>
                  </a:txBody>
                  <a:tcPr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3</a:t>
                      </a:r>
                    </a:p>
                  </a:txBody>
                  <a:tcPr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a:effectLst/>
                        </a:rPr>
                        <a:t>3</a:t>
                      </a:r>
                    </a:p>
                  </a:txBody>
                  <a:tcPr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a:effectLst/>
                        </a:rPr>
                        <a:t>3</a:t>
                      </a:r>
                    </a:p>
                  </a:txBody>
                  <a:tcPr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3</a:t>
                      </a:r>
                    </a:p>
                  </a:txBody>
                  <a:tcPr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extLst>
                  <a:ext uri="{0D108BD9-81ED-4DB2-BD59-A6C34878D82A}">
                    <a16:rowId xmlns:a16="http://schemas.microsoft.com/office/drawing/2014/main" val="10002"/>
                  </a:ext>
                </a:extLst>
              </a:tr>
              <a:tr h="400050">
                <a:tc>
                  <a:txBody>
                    <a:bodyPr/>
                    <a:lstStyle/>
                    <a:p>
                      <a:pPr marL="0" marR="0" lvl="0" indent="0" algn="ctr" rtl="0">
                        <a:lnSpc>
                          <a:spcPct val="115000"/>
                        </a:lnSpc>
                        <a:spcBef>
                          <a:spcPts val="0"/>
                        </a:spcBef>
                        <a:spcAft>
                          <a:spcPts val="0"/>
                        </a:spcAft>
                        <a:buClr>
                          <a:srgbClr val="000000"/>
                        </a:buClr>
                        <a:buSzPts val="1600"/>
                        <a:buFont typeface="Arial"/>
                        <a:buNone/>
                      </a:pPr>
                      <a:r>
                        <a:rPr lang="en" sz="1600" b="1" u="none" strike="noStrike" cap="none">
                          <a:latin typeface="Questrial"/>
                          <a:ea typeface="Questrial"/>
                          <a:cs typeface="Questrial"/>
                          <a:sym typeface="Questrial"/>
                        </a:rPr>
                        <a:t>Second</a:t>
                      </a:r>
                      <a:endParaRPr sz="1600" b="1" u="none" strike="noStrike" cap="none">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dirty="0">
                          <a:latin typeface="Questrial"/>
                          <a:ea typeface="Questrial"/>
                          <a:cs typeface="Questrial"/>
                          <a:sym typeface="Questrial"/>
                        </a:rPr>
                        <a:t>Delivery Date Prediction</a:t>
                      </a:r>
                      <a:endParaRPr sz="1600" b="1"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algn="ctr" fontAlgn="base"/>
                      <a:r>
                        <a:rPr lang="en-US" dirty="0">
                          <a:effectLst/>
                        </a:rPr>
                        <a:t>5</a:t>
                      </a:r>
                    </a:p>
                  </a:txBody>
                  <a:tcPr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1</a:t>
                      </a:r>
                    </a:p>
                  </a:txBody>
                  <a:tcPr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3</a:t>
                      </a:r>
                    </a:p>
                  </a:txBody>
                  <a:tcPr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5</a:t>
                      </a:r>
                    </a:p>
                  </a:txBody>
                  <a:tcPr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5</a:t>
                      </a:r>
                    </a:p>
                  </a:txBody>
                  <a:tcPr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extLst>
                  <a:ext uri="{0D108BD9-81ED-4DB2-BD59-A6C34878D82A}">
                    <a16:rowId xmlns:a16="http://schemas.microsoft.com/office/drawing/2014/main" val="10003"/>
                  </a:ext>
                </a:extLst>
              </a:tr>
              <a:tr h="400050">
                <a:tc>
                  <a:txBody>
                    <a:bodyPr/>
                    <a:lstStyle/>
                    <a:p>
                      <a:pPr marL="0" marR="0" lvl="0" indent="0" algn="ctr" rtl="0">
                        <a:lnSpc>
                          <a:spcPct val="115000"/>
                        </a:lnSpc>
                        <a:spcBef>
                          <a:spcPts val="0"/>
                        </a:spcBef>
                        <a:spcAft>
                          <a:spcPts val="0"/>
                        </a:spcAft>
                        <a:buClr>
                          <a:srgbClr val="000000"/>
                        </a:buClr>
                        <a:buSzPts val="1600"/>
                        <a:buFont typeface="Arial"/>
                        <a:buNone/>
                      </a:pPr>
                      <a:r>
                        <a:rPr lang="en-US" sz="1600" b="1" u="none" strike="noStrike" cap="none" dirty="0">
                          <a:latin typeface="Questrial"/>
                          <a:ea typeface="Questrial"/>
                          <a:cs typeface="Questrial"/>
                          <a:sym typeface="Questrial"/>
                        </a:rPr>
                        <a:t>Third</a:t>
                      </a:r>
                      <a:endParaRPr sz="1600" b="1"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dirty="0">
                          <a:latin typeface="Questrial"/>
                          <a:ea typeface="Questrial"/>
                          <a:cs typeface="Questrial"/>
                          <a:sym typeface="Questrial"/>
                        </a:rPr>
                        <a:t>Price </a:t>
                      </a:r>
                      <a:r>
                        <a:rPr lang="en-US" sz="1600" b="1" u="none" strike="noStrike" cap="none" dirty="0" err="1">
                          <a:latin typeface="Questrial"/>
                          <a:ea typeface="Questrial"/>
                          <a:cs typeface="Questrial"/>
                          <a:sym typeface="Questrial"/>
                        </a:rPr>
                        <a:t>Optimisation</a:t>
                      </a:r>
                      <a:endParaRPr sz="1600" b="1" u="none" strike="noStrike" cap="none" dirty="0">
                        <a:latin typeface="Questrial"/>
                        <a:ea typeface="Questrial"/>
                        <a:cs typeface="Questrial"/>
                        <a:sym typeface="Questrial"/>
                      </a:endParaRPr>
                    </a:p>
                  </a:txBody>
                  <a:tcPr marL="25400" marR="25400" marT="25400" marB="25400"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algn="ctr" fontAlgn="base"/>
                      <a:r>
                        <a:rPr lang="en-US" dirty="0">
                          <a:effectLst/>
                        </a:rPr>
                        <a:t>5</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3</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1</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5</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5</a:t>
                      </a:r>
                    </a:p>
                  </a:txBody>
                  <a:tcPr anchor="ctr">
                    <a:lnL w="9525" cap="flat" cmpd="sng" algn="ctr">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extLst>
                  <a:ext uri="{0D108BD9-81ED-4DB2-BD59-A6C34878D82A}">
                    <a16:rowId xmlns:a16="http://schemas.microsoft.com/office/drawing/2014/main" val="3304350316"/>
                  </a:ext>
                </a:extLst>
              </a:tr>
              <a:tr h="400050">
                <a:tc>
                  <a:txBody>
                    <a:bodyPr/>
                    <a:lstStyle/>
                    <a:p>
                      <a:pPr marL="0" marR="0" lvl="0" indent="0" algn="ctr" rtl="0">
                        <a:lnSpc>
                          <a:spcPct val="115000"/>
                        </a:lnSpc>
                        <a:spcBef>
                          <a:spcPts val="0"/>
                        </a:spcBef>
                        <a:spcAft>
                          <a:spcPts val="0"/>
                        </a:spcAft>
                        <a:buClr>
                          <a:srgbClr val="000000"/>
                        </a:buClr>
                        <a:buSzPts val="1600"/>
                        <a:buFont typeface="Arial"/>
                        <a:buNone/>
                      </a:pPr>
                      <a:r>
                        <a:rPr lang="en-US" sz="1600" b="1" u="none" strike="noStrike" cap="none" dirty="0">
                          <a:latin typeface="Questrial"/>
                          <a:ea typeface="Questrial"/>
                          <a:cs typeface="Questrial"/>
                          <a:sym typeface="Questrial"/>
                        </a:rPr>
                        <a:t>Forth</a:t>
                      </a:r>
                      <a:endParaRPr sz="1600" b="1"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dirty="0">
                          <a:latin typeface="Questrial"/>
                          <a:ea typeface="Questrial"/>
                          <a:cs typeface="Questrial"/>
                          <a:sym typeface="Questrial"/>
                        </a:rPr>
                        <a:t>Customer Churn</a:t>
                      </a:r>
                      <a:endParaRPr sz="1600" b="1" u="none" strike="noStrike" cap="none" dirty="0">
                        <a:latin typeface="Questrial"/>
                        <a:ea typeface="Questrial"/>
                        <a:cs typeface="Questrial"/>
                        <a:sym typeface="Questrial"/>
                      </a:endParaRPr>
                    </a:p>
                  </a:txBody>
                  <a:tcPr marL="25400" marR="25400" marT="25400" marB="25400"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algn="ctr" fontAlgn="base"/>
                      <a:r>
                        <a:rPr lang="en-US" dirty="0">
                          <a:effectLst/>
                        </a:rPr>
                        <a:t>5</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1</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1</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5</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5</a:t>
                      </a:r>
                    </a:p>
                  </a:txBody>
                  <a:tcPr anchor="ctr">
                    <a:lnL w="9525" cap="flat" cmpd="sng" algn="ctr">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extLst>
                  <a:ext uri="{0D108BD9-81ED-4DB2-BD59-A6C34878D82A}">
                    <a16:rowId xmlns:a16="http://schemas.microsoft.com/office/drawing/2014/main" val="4100159075"/>
                  </a:ext>
                </a:extLst>
              </a:tr>
              <a:tr h="400050">
                <a:tc>
                  <a:txBody>
                    <a:bodyPr/>
                    <a:lstStyle/>
                    <a:p>
                      <a:pPr marL="0" marR="0" lvl="0" indent="0" algn="ctr" rtl="0">
                        <a:lnSpc>
                          <a:spcPct val="115000"/>
                        </a:lnSpc>
                        <a:spcBef>
                          <a:spcPts val="0"/>
                        </a:spcBef>
                        <a:spcAft>
                          <a:spcPts val="0"/>
                        </a:spcAft>
                        <a:buClr>
                          <a:srgbClr val="000000"/>
                        </a:buClr>
                        <a:buSzPts val="1600"/>
                        <a:buFont typeface="Arial"/>
                        <a:buNone/>
                      </a:pPr>
                      <a:r>
                        <a:rPr lang="en-US" sz="1600" b="1" u="none" strike="noStrike" cap="none" dirty="0">
                          <a:latin typeface="Questrial"/>
                          <a:ea typeface="Questrial"/>
                          <a:cs typeface="Questrial"/>
                          <a:sym typeface="Questrial"/>
                        </a:rPr>
                        <a:t>Fifth</a:t>
                      </a:r>
                      <a:endParaRPr sz="1600" b="1"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dirty="0">
                          <a:latin typeface="Questrial"/>
                          <a:ea typeface="Questrial"/>
                          <a:cs typeface="Questrial"/>
                          <a:sym typeface="Questrial"/>
                        </a:rPr>
                        <a:t>Customer Acquisition Cost </a:t>
                      </a:r>
                      <a:r>
                        <a:rPr lang="en-US" sz="1600" b="1" u="none" strike="noStrike" cap="none" dirty="0" err="1">
                          <a:latin typeface="Questrial"/>
                          <a:ea typeface="Questrial"/>
                          <a:cs typeface="Questrial"/>
                          <a:sym typeface="Questrial"/>
                        </a:rPr>
                        <a:t>Optimisation</a:t>
                      </a:r>
                      <a:endParaRPr sz="1600" b="1" u="none" strike="noStrike" cap="none" dirty="0">
                        <a:latin typeface="Questrial"/>
                        <a:ea typeface="Questrial"/>
                        <a:cs typeface="Questrial"/>
                        <a:sym typeface="Questrial"/>
                      </a:endParaRPr>
                    </a:p>
                  </a:txBody>
                  <a:tcPr marL="25400" marR="25400" marT="25400" marB="25400"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algn="ctr" fontAlgn="base"/>
                      <a:r>
                        <a:rPr lang="en-US" dirty="0">
                          <a:effectLst/>
                        </a:rPr>
                        <a:t>5</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3</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1</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5</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tc>
                  <a:txBody>
                    <a:bodyPr/>
                    <a:lstStyle/>
                    <a:p>
                      <a:pPr algn="ctr" fontAlgn="base"/>
                      <a:r>
                        <a:rPr lang="en-US" dirty="0">
                          <a:effectLst/>
                        </a:rPr>
                        <a:t>5</a:t>
                      </a:r>
                    </a:p>
                  </a:txBody>
                  <a:tcPr anchor="ctr">
                    <a:lnL w="9525" cap="flat" cmpd="sng" algn="ctr">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lgn="ctr">
                      <a:solidFill>
                        <a:srgbClr val="D9D9D9"/>
                      </a:solidFill>
                      <a:prstDash val="solid"/>
                      <a:round/>
                      <a:headEnd type="none" w="sm" len="sm"/>
                      <a:tailEnd type="none" w="sm" len="sm"/>
                    </a:lnB>
                  </a:tcPr>
                </a:tc>
                <a:extLst>
                  <a:ext uri="{0D108BD9-81ED-4DB2-BD59-A6C34878D82A}">
                    <a16:rowId xmlns:a16="http://schemas.microsoft.com/office/drawing/2014/main" val="1551564115"/>
                  </a:ext>
                </a:extLst>
              </a:tr>
              <a:tr h="400050">
                <a:tc>
                  <a:txBody>
                    <a:bodyPr/>
                    <a:lstStyle/>
                    <a:p>
                      <a:pPr marL="0" marR="0" lvl="0" indent="0" algn="ctr" rtl="0">
                        <a:lnSpc>
                          <a:spcPct val="115000"/>
                        </a:lnSpc>
                        <a:spcBef>
                          <a:spcPts val="0"/>
                        </a:spcBef>
                        <a:spcAft>
                          <a:spcPts val="0"/>
                        </a:spcAft>
                        <a:buClr>
                          <a:srgbClr val="000000"/>
                        </a:buClr>
                        <a:buSzPts val="1600"/>
                        <a:buFont typeface="Arial"/>
                        <a:buNone/>
                      </a:pPr>
                      <a:r>
                        <a:rPr lang="en-US" sz="1600" b="1" u="none" strike="noStrike" cap="none" dirty="0">
                          <a:latin typeface="Questrial"/>
                          <a:ea typeface="Questrial"/>
                          <a:cs typeface="Questrial"/>
                          <a:sym typeface="Questrial"/>
                        </a:rPr>
                        <a:t>Sixth</a:t>
                      </a:r>
                      <a:endParaRPr sz="1600" b="1" u="none" strike="noStrike" cap="none" dirty="0">
                        <a:latin typeface="Questrial"/>
                        <a:ea typeface="Questrial"/>
                        <a:cs typeface="Questrial"/>
                        <a:sym typeface="Questrial"/>
                      </a:endParaRPr>
                    </a:p>
                  </a:txBody>
                  <a:tcPr marL="25400" marR="25400" marT="25400" marB="25400" anchor="ctr">
                    <a:lnL w="9525" cap="flat" cmpd="sng">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dirty="0">
                          <a:latin typeface="Questrial"/>
                          <a:ea typeface="Questrial"/>
                          <a:cs typeface="Questrial"/>
                          <a:sym typeface="Questrial"/>
                        </a:rPr>
                        <a:t>Fraud Detection</a:t>
                      </a:r>
                      <a:endParaRPr sz="1600" b="1" u="none" strike="noStrike" cap="none" dirty="0">
                        <a:latin typeface="Questrial"/>
                        <a:ea typeface="Questrial"/>
                        <a:cs typeface="Questrial"/>
                        <a:sym typeface="Questrial"/>
                      </a:endParaRPr>
                    </a:p>
                  </a:txBody>
                  <a:tcPr marL="25400" marR="25400" marT="25400" marB="25400"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algn="ctr" fontAlgn="base"/>
                      <a:r>
                        <a:rPr lang="en-US" dirty="0">
                          <a:effectLst/>
                        </a:rPr>
                        <a:t>5</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algn="ctr" fontAlgn="base"/>
                      <a:r>
                        <a:rPr lang="en-US" dirty="0">
                          <a:effectLst/>
                        </a:rPr>
                        <a:t>1</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algn="ctr" fontAlgn="base"/>
                      <a:r>
                        <a:rPr lang="en-US" dirty="0">
                          <a:effectLst/>
                        </a:rPr>
                        <a:t>1</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algn="ctr" fontAlgn="base"/>
                      <a:r>
                        <a:rPr lang="en-US" dirty="0">
                          <a:effectLst/>
                        </a:rPr>
                        <a:t>5</a:t>
                      </a:r>
                    </a:p>
                  </a:txBody>
                  <a:tcPr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algn="ctr" fontAlgn="base"/>
                      <a:r>
                        <a:rPr lang="en-US" dirty="0">
                          <a:effectLst/>
                        </a:rPr>
                        <a:t>5</a:t>
                      </a:r>
                    </a:p>
                  </a:txBody>
                  <a:tcPr anchor="ctr">
                    <a:lnL w="9525" cap="flat" cmpd="sng" algn="ctr">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3298805185"/>
                  </a:ext>
                </a:extLst>
              </a:tr>
            </a:tbl>
          </a:graphicData>
        </a:graphic>
      </p:graphicFrame>
      <p:sp>
        <p:nvSpPr>
          <p:cNvPr id="152" name="Google Shape;152;p28"/>
          <p:cNvSpPr txBox="1"/>
          <p:nvPr/>
        </p:nvSpPr>
        <p:spPr>
          <a:xfrm>
            <a:off x="65725" y="132700"/>
            <a:ext cx="7717800" cy="336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 sz="2100" b="1" i="0" u="none" strike="noStrike" cap="none" dirty="0">
                <a:solidFill>
                  <a:schemeClr val="dk1"/>
                </a:solidFill>
                <a:latin typeface="Questrial"/>
                <a:ea typeface="Questrial"/>
                <a:cs typeface="Questrial"/>
                <a:sym typeface="Questrial"/>
              </a:rPr>
              <a:t>Highest-Priority Data Science Projects </a:t>
            </a:r>
            <a:endParaRPr sz="2100" b="1" i="0" u="none" strike="noStrike" cap="none" dirty="0">
              <a:solidFill>
                <a:schemeClr val="dk1"/>
              </a:solidFill>
              <a:latin typeface="Questrial"/>
              <a:ea typeface="Questrial"/>
              <a:cs typeface="Questrial"/>
              <a:sym typeface="Quest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dirty="0">
              <a:solidFill>
                <a:srgbClr val="000000"/>
              </a:solidFill>
              <a:latin typeface="Questrial"/>
              <a:ea typeface="Questrial"/>
              <a:cs typeface="Questrial"/>
              <a:sym typeface="Quest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9"/>
          <p:cNvSpPr txBox="1"/>
          <p:nvPr/>
        </p:nvSpPr>
        <p:spPr>
          <a:xfrm>
            <a:off x="65725" y="-19700"/>
            <a:ext cx="7717800" cy="336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 sz="1200" i="0" u="none" strike="noStrike" cap="none" dirty="0">
                <a:solidFill>
                  <a:schemeClr val="dk1"/>
                </a:solidFill>
                <a:latin typeface="Questrial"/>
                <a:ea typeface="Questrial"/>
                <a:cs typeface="Questrial"/>
                <a:sym typeface="Questrial"/>
              </a:rPr>
              <a:t>“Data Science Road Map” below with the first four data science projects chosen for implementation.</a:t>
            </a:r>
            <a:endParaRPr sz="1200" i="0" u="none" strike="noStrike" cap="none" dirty="0">
              <a:solidFill>
                <a:schemeClr val="dk1"/>
              </a:solidFill>
              <a:latin typeface="Questrial"/>
              <a:ea typeface="Questrial"/>
              <a:cs typeface="Questrial"/>
              <a:sym typeface="Questrial"/>
            </a:endParaRPr>
          </a:p>
          <a:p>
            <a:pPr marL="0" marR="0" lvl="0" indent="0" algn="l" rtl="0">
              <a:lnSpc>
                <a:spcPct val="100000"/>
              </a:lnSpc>
              <a:spcBef>
                <a:spcPts val="0"/>
              </a:spcBef>
              <a:spcAft>
                <a:spcPts val="0"/>
              </a:spcAft>
              <a:buClr>
                <a:srgbClr val="000000"/>
              </a:buClr>
              <a:buSzPts val="1500"/>
              <a:buFont typeface="Arial"/>
              <a:buNone/>
            </a:pPr>
            <a:endParaRPr sz="1500" i="0" u="none" strike="noStrike" cap="none" dirty="0">
              <a:solidFill>
                <a:srgbClr val="000000"/>
              </a:solidFill>
              <a:latin typeface="Questrial"/>
              <a:ea typeface="Questrial"/>
              <a:cs typeface="Questrial"/>
              <a:sym typeface="Questrial"/>
            </a:endParaRPr>
          </a:p>
        </p:txBody>
      </p:sp>
      <p:sp>
        <p:nvSpPr>
          <p:cNvPr id="158" name="Google Shape;158;p29"/>
          <p:cNvSpPr/>
          <p:nvPr/>
        </p:nvSpPr>
        <p:spPr>
          <a:xfrm>
            <a:off x="3998404" y="1053000"/>
            <a:ext cx="4988541" cy="818663"/>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000"/>
              <a:buFont typeface="Arial"/>
              <a:buNone/>
            </a:pPr>
            <a:r>
              <a:rPr lang="en-US" sz="1000" i="0" u="none" strike="noStrike" cap="none" dirty="0">
                <a:solidFill>
                  <a:srgbClr val="000000"/>
                </a:solidFill>
                <a:latin typeface="Questrial"/>
                <a:ea typeface="Questrial"/>
                <a:cs typeface="Questrial"/>
                <a:sym typeface="Questrial"/>
              </a:rPr>
              <a:t>Understanding customer sentiments through sentiment analysis can provide valuable insights into customer experiences and help identify areas of improvement. Prioritizing this use case will enable OLIST to enhance customer satisfaction and tailor their offerings to meet customer expectations.</a:t>
            </a:r>
            <a:endParaRPr sz="1600" i="0" u="none" strike="noStrike" cap="none" dirty="0">
              <a:solidFill>
                <a:srgbClr val="000000"/>
              </a:solidFill>
              <a:latin typeface="Questrial"/>
              <a:ea typeface="Questrial"/>
              <a:cs typeface="Questrial"/>
              <a:sym typeface="Questrial"/>
            </a:endParaRPr>
          </a:p>
        </p:txBody>
      </p:sp>
      <p:sp>
        <p:nvSpPr>
          <p:cNvPr id="159" name="Google Shape;159;p29"/>
          <p:cNvSpPr/>
          <p:nvPr/>
        </p:nvSpPr>
        <p:spPr>
          <a:xfrm>
            <a:off x="1149175" y="1053000"/>
            <a:ext cx="2681379" cy="818663"/>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100"/>
              <a:buFont typeface="Arial"/>
              <a:buNone/>
            </a:pPr>
            <a:r>
              <a:rPr lang="en" sz="1100" b="1" i="0" u="none" strike="noStrike" cap="none" dirty="0">
                <a:solidFill>
                  <a:srgbClr val="000000"/>
                </a:solidFill>
                <a:latin typeface="Questrial"/>
                <a:ea typeface="Questrial"/>
                <a:cs typeface="Questrial"/>
                <a:sym typeface="Questrial"/>
              </a:rPr>
              <a:t>Project 1:</a:t>
            </a:r>
            <a:endParaRPr sz="1100" b="1" i="0" u="none" strike="noStrike" cap="none" dirty="0">
              <a:solidFill>
                <a:srgbClr val="000000"/>
              </a:solidFill>
              <a:latin typeface="Questrial"/>
              <a:ea typeface="Questrial"/>
              <a:cs typeface="Questrial"/>
              <a:sym typeface="Questrial"/>
            </a:endParaRPr>
          </a:p>
          <a:p>
            <a:pPr marL="0" marR="0" lvl="0" indent="0" algn="l" rtl="0">
              <a:lnSpc>
                <a:spcPct val="115000"/>
              </a:lnSpc>
              <a:spcBef>
                <a:spcPts val="0"/>
              </a:spcBef>
              <a:spcAft>
                <a:spcPts val="0"/>
              </a:spcAft>
              <a:buClr>
                <a:srgbClr val="000000"/>
              </a:buClr>
              <a:buSzPts val="1100"/>
              <a:buFont typeface="Arial"/>
              <a:buNone/>
            </a:pPr>
            <a:r>
              <a:rPr lang="en-US" sz="1100" i="0" u="none" strike="noStrike" cap="none" dirty="0">
                <a:solidFill>
                  <a:srgbClr val="000000"/>
                </a:solidFill>
                <a:latin typeface="Questrial"/>
                <a:ea typeface="Questrial"/>
                <a:cs typeface="Questrial"/>
                <a:sym typeface="Questrial"/>
              </a:rPr>
              <a:t>Sentiment Analysis</a:t>
            </a:r>
            <a:endParaRPr sz="1700" i="0" u="none" strike="noStrike" cap="none" dirty="0">
              <a:solidFill>
                <a:srgbClr val="000000"/>
              </a:solidFill>
              <a:latin typeface="Questrial"/>
              <a:ea typeface="Questrial"/>
              <a:cs typeface="Questrial"/>
              <a:sym typeface="Questrial"/>
            </a:endParaRPr>
          </a:p>
        </p:txBody>
      </p:sp>
      <p:sp>
        <p:nvSpPr>
          <p:cNvPr id="160" name="Google Shape;160;p29"/>
          <p:cNvSpPr/>
          <p:nvPr/>
        </p:nvSpPr>
        <p:spPr>
          <a:xfrm>
            <a:off x="1149175" y="1990830"/>
            <a:ext cx="2681379" cy="759513"/>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100"/>
              <a:buFont typeface="Arial"/>
              <a:buNone/>
            </a:pPr>
            <a:r>
              <a:rPr lang="en" sz="1100" b="1" i="0" u="none" strike="noStrike" cap="none" dirty="0">
                <a:solidFill>
                  <a:srgbClr val="000000"/>
                </a:solidFill>
                <a:latin typeface="Questrial"/>
                <a:ea typeface="Questrial"/>
                <a:cs typeface="Questrial"/>
                <a:sym typeface="Questrial"/>
              </a:rPr>
              <a:t>Project 2:</a:t>
            </a:r>
            <a:endParaRPr sz="1100" b="1" i="0" u="none" strike="noStrike" cap="none" dirty="0">
              <a:solidFill>
                <a:srgbClr val="000000"/>
              </a:solidFill>
              <a:latin typeface="Questrial"/>
              <a:ea typeface="Questrial"/>
              <a:cs typeface="Questrial"/>
              <a:sym typeface="Questrial"/>
            </a:endParaRPr>
          </a:p>
          <a:p>
            <a:pPr marL="0" marR="0" lvl="0" indent="0" algn="l" rtl="0">
              <a:lnSpc>
                <a:spcPct val="115000"/>
              </a:lnSpc>
              <a:spcBef>
                <a:spcPts val="0"/>
              </a:spcBef>
              <a:spcAft>
                <a:spcPts val="0"/>
              </a:spcAft>
              <a:buClr>
                <a:srgbClr val="000000"/>
              </a:buClr>
              <a:buSzPts val="1100"/>
              <a:buFont typeface="Arial"/>
              <a:buNone/>
            </a:pPr>
            <a:r>
              <a:rPr lang="en-US" sz="1100" i="0" u="none" strike="noStrike" cap="none" dirty="0">
                <a:solidFill>
                  <a:srgbClr val="000000"/>
                </a:solidFill>
                <a:latin typeface="Questrial"/>
                <a:ea typeface="Questrial"/>
                <a:cs typeface="Questrial"/>
                <a:sym typeface="Questrial"/>
              </a:rPr>
              <a:t>Delivery Date Prediction:</a:t>
            </a:r>
            <a:endParaRPr sz="1700" i="0" u="none" strike="noStrike" cap="none" dirty="0">
              <a:solidFill>
                <a:srgbClr val="000000"/>
              </a:solidFill>
              <a:latin typeface="Questrial"/>
              <a:ea typeface="Questrial"/>
              <a:cs typeface="Questrial"/>
              <a:sym typeface="Questrial"/>
            </a:endParaRPr>
          </a:p>
        </p:txBody>
      </p:sp>
      <p:sp>
        <p:nvSpPr>
          <p:cNvPr id="163" name="Google Shape;163;p29"/>
          <p:cNvSpPr/>
          <p:nvPr/>
        </p:nvSpPr>
        <p:spPr>
          <a:xfrm>
            <a:off x="274525" y="1053000"/>
            <a:ext cx="706800" cy="818663"/>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400"/>
              <a:buFont typeface="Arial"/>
              <a:buNone/>
            </a:pPr>
            <a:r>
              <a:rPr lang="en" sz="1400" b="1" i="0" u="none" strike="noStrike" cap="none">
                <a:solidFill>
                  <a:srgbClr val="000000"/>
                </a:solidFill>
                <a:latin typeface="Questrial"/>
                <a:ea typeface="Questrial"/>
                <a:cs typeface="Questrial"/>
                <a:sym typeface="Questrial"/>
              </a:rPr>
              <a:t>1</a:t>
            </a:r>
            <a:endParaRPr sz="2000" i="0" u="none" strike="noStrike" cap="none">
              <a:solidFill>
                <a:srgbClr val="000000"/>
              </a:solidFill>
              <a:latin typeface="Questrial"/>
              <a:ea typeface="Questrial"/>
              <a:cs typeface="Questrial"/>
              <a:sym typeface="Questrial"/>
            </a:endParaRPr>
          </a:p>
        </p:txBody>
      </p:sp>
      <p:sp>
        <p:nvSpPr>
          <p:cNvPr id="164" name="Google Shape;164;p29"/>
          <p:cNvSpPr txBox="1"/>
          <p:nvPr/>
        </p:nvSpPr>
        <p:spPr>
          <a:xfrm>
            <a:off x="274525" y="716400"/>
            <a:ext cx="7068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sng" strike="noStrike" cap="none">
                <a:solidFill>
                  <a:srgbClr val="000000"/>
                </a:solidFill>
                <a:latin typeface="Questrial"/>
                <a:ea typeface="Questrial"/>
                <a:cs typeface="Questrial"/>
                <a:sym typeface="Questrial"/>
              </a:rPr>
              <a:t>Order</a:t>
            </a:r>
            <a:endParaRPr sz="1400" i="0" u="sng" strike="noStrike" cap="none">
              <a:solidFill>
                <a:srgbClr val="000000"/>
              </a:solidFill>
              <a:latin typeface="Questrial"/>
              <a:ea typeface="Questrial"/>
              <a:cs typeface="Questrial"/>
              <a:sym typeface="Questrial"/>
            </a:endParaRPr>
          </a:p>
        </p:txBody>
      </p:sp>
      <p:sp>
        <p:nvSpPr>
          <p:cNvPr id="165" name="Google Shape;165;p29"/>
          <p:cNvSpPr txBox="1"/>
          <p:nvPr/>
        </p:nvSpPr>
        <p:spPr>
          <a:xfrm>
            <a:off x="2226975" y="716400"/>
            <a:ext cx="8748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sng" strike="noStrike" cap="none">
                <a:solidFill>
                  <a:srgbClr val="000000"/>
                </a:solidFill>
                <a:latin typeface="Questrial"/>
                <a:ea typeface="Questrial"/>
                <a:cs typeface="Questrial"/>
                <a:sym typeface="Questrial"/>
              </a:rPr>
              <a:t>Project</a:t>
            </a:r>
            <a:endParaRPr sz="1400" i="0" u="sng" strike="noStrike" cap="none">
              <a:solidFill>
                <a:srgbClr val="000000"/>
              </a:solidFill>
              <a:latin typeface="Questrial"/>
              <a:ea typeface="Questrial"/>
              <a:cs typeface="Questrial"/>
              <a:sym typeface="Questrial"/>
            </a:endParaRPr>
          </a:p>
        </p:txBody>
      </p:sp>
      <p:sp>
        <p:nvSpPr>
          <p:cNvPr id="166" name="Google Shape;166;p29"/>
          <p:cNvSpPr txBox="1"/>
          <p:nvPr/>
        </p:nvSpPr>
        <p:spPr>
          <a:xfrm>
            <a:off x="5721175" y="716400"/>
            <a:ext cx="17403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sng" strike="noStrike" cap="none">
                <a:solidFill>
                  <a:srgbClr val="000000"/>
                </a:solidFill>
                <a:latin typeface="Questrial"/>
                <a:ea typeface="Questrial"/>
                <a:cs typeface="Questrial"/>
                <a:sym typeface="Questrial"/>
              </a:rPr>
              <a:t>Order Justification</a:t>
            </a:r>
            <a:endParaRPr sz="1400" i="0" u="sng" strike="noStrike" cap="none">
              <a:solidFill>
                <a:srgbClr val="000000"/>
              </a:solidFill>
              <a:latin typeface="Questrial"/>
              <a:ea typeface="Questrial"/>
              <a:cs typeface="Questrial"/>
              <a:sym typeface="Questrial"/>
            </a:endParaRPr>
          </a:p>
        </p:txBody>
      </p:sp>
      <p:sp>
        <p:nvSpPr>
          <p:cNvPr id="167" name="Google Shape;167;p29"/>
          <p:cNvSpPr/>
          <p:nvPr/>
        </p:nvSpPr>
        <p:spPr>
          <a:xfrm>
            <a:off x="274525" y="1990837"/>
            <a:ext cx="706800" cy="759513"/>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400"/>
              <a:buFont typeface="Arial"/>
              <a:buNone/>
            </a:pPr>
            <a:r>
              <a:rPr lang="en" sz="1400" b="1" i="0" u="none" strike="noStrike" cap="none">
                <a:solidFill>
                  <a:srgbClr val="000000"/>
                </a:solidFill>
                <a:latin typeface="Questrial"/>
                <a:ea typeface="Questrial"/>
                <a:cs typeface="Questrial"/>
                <a:sym typeface="Questrial"/>
              </a:rPr>
              <a:t>2</a:t>
            </a:r>
            <a:endParaRPr sz="2000" i="0" u="none" strike="noStrike" cap="none">
              <a:solidFill>
                <a:srgbClr val="000000"/>
              </a:solidFill>
              <a:latin typeface="Questrial"/>
              <a:ea typeface="Questrial"/>
              <a:cs typeface="Questrial"/>
              <a:sym typeface="Questrial"/>
            </a:endParaRPr>
          </a:p>
        </p:txBody>
      </p:sp>
      <p:sp>
        <p:nvSpPr>
          <p:cNvPr id="171" name="Google Shape;171;p29"/>
          <p:cNvSpPr/>
          <p:nvPr/>
        </p:nvSpPr>
        <p:spPr>
          <a:xfrm>
            <a:off x="3998404" y="1990833"/>
            <a:ext cx="4988541" cy="759511"/>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000"/>
              <a:buFont typeface="Arial"/>
              <a:buNone/>
            </a:pPr>
            <a:r>
              <a:rPr lang="en-US" sz="1000" i="0" u="none" strike="noStrike" cap="none" dirty="0">
                <a:solidFill>
                  <a:srgbClr val="000000"/>
                </a:solidFill>
                <a:latin typeface="Questrial"/>
                <a:ea typeface="Questrial"/>
                <a:cs typeface="Questrial"/>
                <a:sym typeface="Questrial"/>
              </a:rPr>
              <a:t>Accurately predicting delivery dates is essential for meeting customer expectations and enhancing customer experience. By improving delivery time estimates, OLIST can increase customer satisfaction and strengthen their competitive advantage.</a:t>
            </a:r>
          </a:p>
        </p:txBody>
      </p:sp>
      <p:sp>
        <p:nvSpPr>
          <p:cNvPr id="2" name="Google Shape;160;p29">
            <a:extLst>
              <a:ext uri="{FF2B5EF4-FFF2-40B4-BE49-F238E27FC236}">
                <a16:creationId xmlns:a16="http://schemas.microsoft.com/office/drawing/2014/main" id="{C6BFB46F-6030-BBC7-1619-801277DA9C63}"/>
              </a:ext>
            </a:extLst>
          </p:cNvPr>
          <p:cNvSpPr/>
          <p:nvPr/>
        </p:nvSpPr>
        <p:spPr>
          <a:xfrm>
            <a:off x="1149175" y="2869510"/>
            <a:ext cx="2681379" cy="830953"/>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100"/>
              <a:buFont typeface="Arial"/>
              <a:buNone/>
            </a:pPr>
            <a:r>
              <a:rPr lang="en" sz="1100" b="1" i="0" u="none" strike="noStrike" cap="none" dirty="0">
                <a:solidFill>
                  <a:srgbClr val="000000"/>
                </a:solidFill>
                <a:latin typeface="Questrial"/>
                <a:ea typeface="Questrial"/>
                <a:cs typeface="Questrial"/>
                <a:sym typeface="Questrial"/>
              </a:rPr>
              <a:t>Project 5:</a:t>
            </a:r>
            <a:endParaRPr sz="1100" b="1" i="0" u="none" strike="noStrike" cap="none" dirty="0">
              <a:solidFill>
                <a:srgbClr val="000000"/>
              </a:solidFill>
              <a:latin typeface="Questrial"/>
              <a:ea typeface="Questrial"/>
              <a:cs typeface="Questrial"/>
              <a:sym typeface="Questrial"/>
            </a:endParaRPr>
          </a:p>
          <a:p>
            <a:pPr marL="0" marR="0" lvl="0" indent="0" algn="l" rtl="0">
              <a:lnSpc>
                <a:spcPct val="115000"/>
              </a:lnSpc>
              <a:spcBef>
                <a:spcPts val="0"/>
              </a:spcBef>
              <a:spcAft>
                <a:spcPts val="0"/>
              </a:spcAft>
              <a:buClr>
                <a:srgbClr val="000000"/>
              </a:buClr>
              <a:buSzPts val="1100"/>
              <a:buFont typeface="Arial"/>
              <a:buNone/>
            </a:pPr>
            <a:r>
              <a:rPr lang="en-US" sz="1100" i="0" u="none" strike="noStrike" cap="none" dirty="0">
                <a:solidFill>
                  <a:srgbClr val="000000"/>
                </a:solidFill>
                <a:latin typeface="Questrial"/>
                <a:ea typeface="Questrial"/>
                <a:cs typeface="Questrial"/>
                <a:sym typeface="Questrial"/>
              </a:rPr>
              <a:t>Customer Acquisition Cost Optimization:</a:t>
            </a:r>
            <a:endParaRPr sz="1700" i="0" u="none" strike="noStrike" cap="none" dirty="0">
              <a:solidFill>
                <a:srgbClr val="000000"/>
              </a:solidFill>
              <a:latin typeface="Questrial"/>
              <a:ea typeface="Questrial"/>
              <a:cs typeface="Questrial"/>
              <a:sym typeface="Questrial"/>
            </a:endParaRPr>
          </a:p>
        </p:txBody>
      </p:sp>
      <p:sp>
        <p:nvSpPr>
          <p:cNvPr id="3" name="Google Shape;167;p29">
            <a:extLst>
              <a:ext uri="{FF2B5EF4-FFF2-40B4-BE49-F238E27FC236}">
                <a16:creationId xmlns:a16="http://schemas.microsoft.com/office/drawing/2014/main" id="{04C104E9-A164-8AC4-2634-CE7C1F32B1C2}"/>
              </a:ext>
            </a:extLst>
          </p:cNvPr>
          <p:cNvSpPr/>
          <p:nvPr/>
        </p:nvSpPr>
        <p:spPr>
          <a:xfrm>
            <a:off x="274525" y="2869517"/>
            <a:ext cx="706800" cy="830953"/>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400"/>
              <a:buFont typeface="Arial"/>
              <a:buNone/>
            </a:pPr>
            <a:r>
              <a:rPr lang="en" sz="1400" b="1" i="0" u="none" strike="noStrike" cap="none" dirty="0">
                <a:solidFill>
                  <a:srgbClr val="000000"/>
                </a:solidFill>
                <a:latin typeface="Questrial"/>
                <a:ea typeface="Questrial"/>
                <a:cs typeface="Questrial"/>
                <a:sym typeface="Questrial"/>
              </a:rPr>
              <a:t>3</a:t>
            </a:r>
            <a:endParaRPr sz="2000" i="0" u="none" strike="noStrike" cap="none" dirty="0">
              <a:solidFill>
                <a:srgbClr val="000000"/>
              </a:solidFill>
              <a:latin typeface="Questrial"/>
              <a:ea typeface="Questrial"/>
              <a:cs typeface="Questrial"/>
              <a:sym typeface="Questrial"/>
            </a:endParaRPr>
          </a:p>
        </p:txBody>
      </p:sp>
      <p:sp>
        <p:nvSpPr>
          <p:cNvPr id="4" name="Google Shape;171;p29">
            <a:extLst>
              <a:ext uri="{FF2B5EF4-FFF2-40B4-BE49-F238E27FC236}">
                <a16:creationId xmlns:a16="http://schemas.microsoft.com/office/drawing/2014/main" id="{AAB2AAFD-AB58-985A-1CB9-ED045B3418F7}"/>
              </a:ext>
            </a:extLst>
          </p:cNvPr>
          <p:cNvSpPr/>
          <p:nvPr/>
        </p:nvSpPr>
        <p:spPr>
          <a:xfrm>
            <a:off x="3998404" y="2869514"/>
            <a:ext cx="4988541" cy="83095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000"/>
              <a:buFont typeface="Arial"/>
              <a:buNone/>
            </a:pPr>
            <a:r>
              <a:rPr lang="en-US" sz="1000" i="0" u="none" strike="noStrike" cap="none" dirty="0">
                <a:solidFill>
                  <a:srgbClr val="000000"/>
                </a:solidFill>
                <a:latin typeface="Questrial"/>
                <a:ea typeface="Questrial"/>
                <a:cs typeface="Questrial"/>
                <a:sym typeface="Questrial"/>
              </a:rPr>
              <a:t>Optimizing customer acquisition costs is crucial for maintaining a healthy marketing budget and maximizing return on investment. By measuring the effectiveness of acquisition campaigns and aligning costs with customer lifetime value, OLIST can ensure efficient resource allocation and sustainable growth.</a:t>
            </a:r>
          </a:p>
        </p:txBody>
      </p:sp>
      <p:sp>
        <p:nvSpPr>
          <p:cNvPr id="5" name="Google Shape;158;p29">
            <a:extLst>
              <a:ext uri="{FF2B5EF4-FFF2-40B4-BE49-F238E27FC236}">
                <a16:creationId xmlns:a16="http://schemas.microsoft.com/office/drawing/2014/main" id="{8C870B84-9BF7-65B5-CBEB-E1C2340E9231}"/>
              </a:ext>
            </a:extLst>
          </p:cNvPr>
          <p:cNvSpPr/>
          <p:nvPr/>
        </p:nvSpPr>
        <p:spPr>
          <a:xfrm>
            <a:off x="3998405" y="3819630"/>
            <a:ext cx="4988541" cy="688076"/>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000"/>
              <a:buFont typeface="Arial"/>
              <a:buNone/>
            </a:pPr>
            <a:r>
              <a:rPr lang="en-US" sz="1000" i="0" u="none" strike="noStrike" cap="none" dirty="0">
                <a:solidFill>
                  <a:srgbClr val="000000"/>
                </a:solidFill>
                <a:latin typeface="Questrial"/>
                <a:ea typeface="Questrial"/>
                <a:cs typeface="Questrial"/>
                <a:sym typeface="Questrial"/>
              </a:rPr>
              <a:t>Addressing customer churn is crucial for maintaining a loyal customer base. By developing churn models and implementing retention strategies, OLIST can focus on retaining valuable customers and reducing customer attrition rates.</a:t>
            </a:r>
            <a:endParaRPr sz="1600" i="0" u="none" strike="noStrike" cap="none" dirty="0">
              <a:solidFill>
                <a:srgbClr val="000000"/>
              </a:solidFill>
              <a:latin typeface="Questrial"/>
              <a:ea typeface="Questrial"/>
              <a:cs typeface="Questrial"/>
              <a:sym typeface="Questrial"/>
            </a:endParaRPr>
          </a:p>
        </p:txBody>
      </p:sp>
      <p:sp>
        <p:nvSpPr>
          <p:cNvPr id="6" name="Google Shape;159;p29">
            <a:extLst>
              <a:ext uri="{FF2B5EF4-FFF2-40B4-BE49-F238E27FC236}">
                <a16:creationId xmlns:a16="http://schemas.microsoft.com/office/drawing/2014/main" id="{283F83D4-3E3F-A9C8-C44D-CA9DB7292263}"/>
              </a:ext>
            </a:extLst>
          </p:cNvPr>
          <p:cNvSpPr/>
          <p:nvPr/>
        </p:nvSpPr>
        <p:spPr>
          <a:xfrm>
            <a:off x="1149175" y="3819630"/>
            <a:ext cx="2681379" cy="688076"/>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100"/>
              <a:buFont typeface="Arial"/>
              <a:buNone/>
            </a:pPr>
            <a:r>
              <a:rPr lang="en" sz="1100" b="1" i="0" u="none" strike="noStrike" cap="none" dirty="0">
                <a:solidFill>
                  <a:srgbClr val="000000"/>
                </a:solidFill>
                <a:latin typeface="Questrial"/>
                <a:ea typeface="Questrial"/>
                <a:cs typeface="Questrial"/>
                <a:sym typeface="Questrial"/>
              </a:rPr>
              <a:t>Project 4:</a:t>
            </a:r>
            <a:endParaRPr sz="1100" b="1" i="0" u="none" strike="noStrike" cap="none" dirty="0">
              <a:solidFill>
                <a:srgbClr val="000000"/>
              </a:solidFill>
              <a:latin typeface="Questrial"/>
              <a:ea typeface="Questrial"/>
              <a:cs typeface="Questrial"/>
              <a:sym typeface="Questrial"/>
            </a:endParaRPr>
          </a:p>
          <a:p>
            <a:pPr marL="0" marR="0" lvl="0" indent="0" algn="l" rtl="0">
              <a:lnSpc>
                <a:spcPct val="115000"/>
              </a:lnSpc>
              <a:spcBef>
                <a:spcPts val="0"/>
              </a:spcBef>
              <a:spcAft>
                <a:spcPts val="0"/>
              </a:spcAft>
              <a:buClr>
                <a:srgbClr val="000000"/>
              </a:buClr>
              <a:buSzPts val="1100"/>
              <a:buFont typeface="Arial"/>
              <a:buNone/>
            </a:pPr>
            <a:r>
              <a:rPr lang="en-US" sz="1100" i="0" u="none" strike="noStrike" cap="none" dirty="0">
                <a:solidFill>
                  <a:srgbClr val="000000"/>
                </a:solidFill>
                <a:latin typeface="Questrial"/>
                <a:ea typeface="Questrial"/>
                <a:cs typeface="Questrial"/>
                <a:sym typeface="Questrial"/>
              </a:rPr>
              <a:t>Customer Churn:</a:t>
            </a:r>
            <a:endParaRPr sz="1700" i="0" u="none" strike="noStrike" cap="none" dirty="0">
              <a:solidFill>
                <a:srgbClr val="000000"/>
              </a:solidFill>
              <a:latin typeface="Questrial"/>
              <a:ea typeface="Questrial"/>
              <a:cs typeface="Questrial"/>
              <a:sym typeface="Questrial"/>
            </a:endParaRPr>
          </a:p>
        </p:txBody>
      </p:sp>
      <p:sp>
        <p:nvSpPr>
          <p:cNvPr id="7" name="Google Shape;163;p29">
            <a:extLst>
              <a:ext uri="{FF2B5EF4-FFF2-40B4-BE49-F238E27FC236}">
                <a16:creationId xmlns:a16="http://schemas.microsoft.com/office/drawing/2014/main" id="{1D42EA65-F9AF-86D4-2E76-63A8692C5745}"/>
              </a:ext>
            </a:extLst>
          </p:cNvPr>
          <p:cNvSpPr/>
          <p:nvPr/>
        </p:nvSpPr>
        <p:spPr>
          <a:xfrm>
            <a:off x="274526" y="3819630"/>
            <a:ext cx="706800" cy="688076"/>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400"/>
              <a:buFont typeface="Arial"/>
              <a:buNone/>
            </a:pPr>
            <a:r>
              <a:rPr lang="en" b="1" dirty="0">
                <a:latin typeface="Questrial"/>
                <a:ea typeface="Questrial"/>
                <a:cs typeface="Questrial"/>
                <a:sym typeface="Questrial"/>
              </a:rPr>
              <a:t>4</a:t>
            </a:r>
            <a:endParaRPr sz="2000" i="0" u="none" strike="noStrike" cap="none" dirty="0">
              <a:solidFill>
                <a:srgbClr val="000000"/>
              </a:solidFill>
              <a:latin typeface="Questrial"/>
              <a:ea typeface="Questrial"/>
              <a:cs typeface="Questrial"/>
              <a:sym typeface="Quest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graphicFrame>
        <p:nvGraphicFramePr>
          <p:cNvPr id="178" name="Google Shape;178;p30"/>
          <p:cNvGraphicFramePr/>
          <p:nvPr>
            <p:extLst>
              <p:ext uri="{D42A27DB-BD31-4B8C-83A1-F6EECF244321}">
                <p14:modId xmlns:p14="http://schemas.microsoft.com/office/powerpoint/2010/main" val="1967604991"/>
              </p:ext>
            </p:extLst>
          </p:nvPr>
        </p:nvGraphicFramePr>
        <p:xfrm>
          <a:off x="65726" y="694394"/>
          <a:ext cx="9078274" cy="4426343"/>
        </p:xfrm>
        <a:graphic>
          <a:graphicData uri="http://schemas.openxmlformats.org/drawingml/2006/table">
            <a:tbl>
              <a:tblPr>
                <a:noFill/>
                <a:tableStyleId>{176FB817-399E-4E18-9760-935D84C4852A}</a:tableStyleId>
              </a:tblPr>
              <a:tblGrid>
                <a:gridCol w="960594">
                  <a:extLst>
                    <a:ext uri="{9D8B030D-6E8A-4147-A177-3AD203B41FA5}">
                      <a16:colId xmlns:a16="http://schemas.microsoft.com/office/drawing/2014/main" val="20000"/>
                    </a:ext>
                  </a:extLst>
                </a:gridCol>
                <a:gridCol w="932030">
                  <a:extLst>
                    <a:ext uri="{9D8B030D-6E8A-4147-A177-3AD203B41FA5}">
                      <a16:colId xmlns:a16="http://schemas.microsoft.com/office/drawing/2014/main" val="20001"/>
                    </a:ext>
                  </a:extLst>
                </a:gridCol>
                <a:gridCol w="7185650">
                  <a:extLst>
                    <a:ext uri="{9D8B030D-6E8A-4147-A177-3AD203B41FA5}">
                      <a16:colId xmlns:a16="http://schemas.microsoft.com/office/drawing/2014/main" val="20002"/>
                    </a:ext>
                  </a:extLst>
                </a:gridCol>
              </a:tblGrid>
              <a:tr h="1137461">
                <a:tc>
                  <a:txBody>
                    <a:bodyPr/>
                    <a:lstStyle/>
                    <a:p>
                      <a:pPr marL="0" marR="0" lvl="0" indent="0" algn="ctr" rtl="0">
                        <a:lnSpc>
                          <a:spcPct val="115000"/>
                        </a:lnSpc>
                        <a:spcBef>
                          <a:spcPts val="0"/>
                        </a:spcBef>
                        <a:spcAft>
                          <a:spcPts val="0"/>
                        </a:spcAft>
                        <a:buClr>
                          <a:srgbClr val="000000"/>
                        </a:buClr>
                        <a:buSzPts val="1000"/>
                        <a:buFont typeface="Arial"/>
                        <a:buNone/>
                      </a:pPr>
                      <a:r>
                        <a:rPr lang="en" sz="1000" u="none" strike="noStrike" cap="none" dirty="0">
                          <a:latin typeface="Questrial"/>
                          <a:ea typeface="Questrial"/>
                          <a:cs typeface="Questrial"/>
                          <a:sym typeface="Questrial"/>
                        </a:rPr>
                        <a:t>Data Requirements</a:t>
                      </a:r>
                      <a:endParaRPr sz="1000" u="none" strike="noStrike" cap="none" dirty="0">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2857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US" sz="1000" u="none" strike="noStrike" cap="none" dirty="0">
                          <a:latin typeface="Questrial"/>
                          <a:ea typeface="Questrial"/>
                          <a:cs typeface="Questrial"/>
                          <a:sym typeface="Questrial"/>
                        </a:rPr>
                        <a:t>What data should be included in the Data Strategy?</a:t>
                      </a:r>
                    </a:p>
                  </a:txBody>
                  <a:tcPr marL="28575" marR="28575" marT="19050" marB="19050"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2857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50800" marR="0" lvl="0" indent="0" algn="l" rtl="0">
                        <a:lnSpc>
                          <a:spcPct val="115000"/>
                        </a:lnSpc>
                        <a:spcBef>
                          <a:spcPts val="0"/>
                        </a:spcBef>
                        <a:spcAft>
                          <a:spcPts val="0"/>
                        </a:spcAft>
                        <a:buClr>
                          <a:srgbClr val="000000"/>
                        </a:buClr>
                        <a:buSzPts val="1000"/>
                        <a:buFont typeface="Questrial"/>
                        <a:buNone/>
                      </a:pPr>
                      <a:r>
                        <a:rPr lang="en-US" sz="1000" u="none" strike="noStrike" cap="none" dirty="0">
                          <a:latin typeface="Questrial"/>
                          <a:ea typeface="Questrial"/>
                          <a:cs typeface="Questrial"/>
                          <a:sym typeface="Questrial"/>
                        </a:rPr>
                        <a:t>This involves identifying the types of data necessary for successful implementation. Both internal and external data sources should be considered, such as existing databases, systems, third-party providers, and public datasets. Data quality and integrity should be addressed, ensuring accuracy and completeness through data profiling and cleansing. Privacy and compliance considerations must be included, adhering to data protection regulations. The data requirements should align with project goals, clearly explaining how the identified data will be used to drive insights, support decision-making, and achieve desired outcomes.</a:t>
                      </a:r>
                      <a:endParaRPr sz="1000" u="none" strike="noStrike" cap="none" dirty="0">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28575" cap="flat" cmpd="sng">
                      <a:solidFill>
                        <a:srgbClr val="D9D9D9"/>
                      </a:solidFill>
                      <a:prstDash val="solid"/>
                      <a:round/>
                      <a:headEnd type="none" w="sm" len="sm"/>
                      <a:tailEnd type="none" w="sm" len="sm"/>
                    </a:lnR>
                    <a:lnT w="2857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0"/>
                  </a:ext>
                </a:extLst>
              </a:tr>
              <a:tr h="828843">
                <a:tc rowSpan="3">
                  <a:txBody>
                    <a:bodyPr/>
                    <a:lstStyle/>
                    <a:p>
                      <a:pPr marL="0" marR="0" lvl="0" indent="0" algn="ctr" rtl="0">
                        <a:lnSpc>
                          <a:spcPct val="115000"/>
                        </a:lnSpc>
                        <a:spcBef>
                          <a:spcPts val="0"/>
                        </a:spcBef>
                        <a:spcAft>
                          <a:spcPts val="0"/>
                        </a:spcAft>
                        <a:buClr>
                          <a:srgbClr val="000000"/>
                        </a:buClr>
                        <a:buSzPts val="1000"/>
                        <a:buFont typeface="Arial"/>
                        <a:buNone/>
                      </a:pPr>
                      <a:r>
                        <a:rPr lang="en" sz="1000" u="none" strike="noStrike" cap="none">
                          <a:latin typeface="Questrial"/>
                          <a:ea typeface="Questrial"/>
                          <a:cs typeface="Questrial"/>
                          <a:sym typeface="Questrial"/>
                        </a:rPr>
                        <a:t>Data Governance</a:t>
                      </a:r>
                      <a:endParaRPr sz="1000" u="none" strike="noStrike" cap="none">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 sz="1000" u="none" strike="noStrike" cap="none" dirty="0">
                          <a:latin typeface="Questrial"/>
                          <a:ea typeface="Questrial"/>
                          <a:cs typeface="Questrial"/>
                          <a:sym typeface="Questrial"/>
                        </a:rPr>
                        <a:t>Data Availability</a:t>
                      </a:r>
                      <a:endParaRPr sz="1000" u="none" strike="noStrike" cap="none" dirty="0">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50800" marR="0" lvl="0" indent="0" algn="l" rtl="0">
                        <a:lnSpc>
                          <a:spcPct val="115000"/>
                        </a:lnSpc>
                        <a:spcBef>
                          <a:spcPts val="0"/>
                        </a:spcBef>
                        <a:spcAft>
                          <a:spcPts val="0"/>
                        </a:spcAft>
                        <a:buClr>
                          <a:srgbClr val="000000"/>
                        </a:buClr>
                        <a:buSzPts val="1000"/>
                        <a:buFont typeface="Questrial"/>
                        <a:buNone/>
                      </a:pPr>
                      <a:r>
                        <a:rPr lang="en-US" sz="1000" u="none" strike="noStrike" cap="none" dirty="0">
                          <a:latin typeface="Questrial"/>
                          <a:ea typeface="Questrial"/>
                          <a:cs typeface="Questrial"/>
                          <a:sym typeface="Questrial"/>
                        </a:rPr>
                        <a:t>Data availability impacts the feasibility and success of a project, as it determines whether the required data can be obtained within the project's timeline and budget. It is crucial to identify potential data gaps or limitations early on and develop strategies to address them, such as data collection, data acquisition, or collaboration with data providers.</a:t>
                      </a:r>
                      <a:endParaRPr sz="1000" u="none" strike="noStrike" cap="none" dirty="0">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2857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1"/>
                  </a:ext>
                </a:extLst>
              </a:tr>
              <a:tr h="1137461">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000"/>
                        <a:buFont typeface="Arial"/>
                        <a:buNone/>
                      </a:pPr>
                      <a:r>
                        <a:rPr lang="en" sz="1000" u="none" strike="noStrike" cap="none" dirty="0">
                          <a:latin typeface="Questrial"/>
                          <a:ea typeface="Questrial"/>
                          <a:cs typeface="Questrial"/>
                          <a:sym typeface="Questrial"/>
                        </a:rPr>
                        <a:t>Usability</a:t>
                      </a:r>
                      <a:endParaRPr sz="1000" u="none" strike="noStrike" cap="none" dirty="0">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50800" marR="0" lvl="0" indent="0" algn="l" rtl="0">
                        <a:lnSpc>
                          <a:spcPct val="115000"/>
                        </a:lnSpc>
                        <a:spcBef>
                          <a:spcPts val="0"/>
                        </a:spcBef>
                        <a:spcAft>
                          <a:spcPts val="0"/>
                        </a:spcAft>
                        <a:buClr>
                          <a:srgbClr val="000000"/>
                        </a:buClr>
                        <a:buSzPts val="1000"/>
                        <a:buFont typeface="Questrial"/>
                        <a:buNone/>
                      </a:pPr>
                      <a:r>
                        <a:rPr lang="en-US" sz="1000" u="none" strike="noStrike" cap="none" dirty="0">
                          <a:latin typeface="Questrial"/>
                          <a:ea typeface="Questrial"/>
                          <a:cs typeface="Questrial"/>
                          <a:sym typeface="Questrial"/>
                        </a:rPr>
                        <a:t>In the context of data analysis or software applications, usability plays a crucial role in ensuring that users can interact with the system effortlessly and efficiently. It involves designing intuitive interfaces, providing clear instructions, and minimizing the learning curve. Usability focuses on enhancing user satisfaction, productivity, and reducing the likelihood of errors or confusion. By prioritizing usability, organizations can improve user adoption, user experience, and overall efficiency, leading to better outcomes and increased user satisfaction. Usability testing and feedback are essential for identifying areas of improvement and optimizing the usability of a system or product.</a:t>
                      </a:r>
                      <a:endParaRPr sz="1000" u="none" strike="noStrike" cap="none" dirty="0">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2857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2"/>
                  </a:ext>
                </a:extLst>
              </a:tr>
              <a:tr h="1322578">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000"/>
                        <a:buFont typeface="Arial"/>
                        <a:buNone/>
                      </a:pPr>
                      <a:r>
                        <a:rPr lang="en" sz="1000" u="none" strike="noStrike" cap="none" dirty="0">
                          <a:latin typeface="Questrial"/>
                          <a:ea typeface="Questrial"/>
                          <a:cs typeface="Questrial"/>
                          <a:sym typeface="Questrial"/>
                        </a:rPr>
                        <a:t>Integrity</a:t>
                      </a:r>
                      <a:endParaRPr sz="1000" u="none" strike="noStrike" cap="none" dirty="0">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50800" marR="0" lvl="0" indent="0" algn="l" rtl="0">
                        <a:lnSpc>
                          <a:spcPct val="115000"/>
                        </a:lnSpc>
                        <a:spcBef>
                          <a:spcPts val="0"/>
                        </a:spcBef>
                        <a:spcAft>
                          <a:spcPts val="0"/>
                        </a:spcAft>
                        <a:buClr>
                          <a:srgbClr val="000000"/>
                        </a:buClr>
                        <a:buSzPts val="1000"/>
                        <a:buFont typeface="Questrial"/>
                        <a:buNone/>
                      </a:pPr>
                      <a:r>
                        <a:rPr lang="en-US" sz="1000" u="none" strike="noStrike" cap="none" dirty="0">
                          <a:latin typeface="Questrial"/>
                          <a:ea typeface="Questrial"/>
                          <a:cs typeface="Questrial"/>
                          <a:sym typeface="Questrial"/>
                        </a:rPr>
                        <a:t>Integrity refers to the quality of data being accurate, consistent, and trustworthy. In the context of data management, integrity ensures that data is reliable and free from errors or inconsistencies. It involves maintaining data accuracy throughout its lifecycle, from collection and storage to processing and analysis. Data integrity measures, such as validation rules and error-checking mechanisms, are implemented to prevent data corruption or unauthorized modifications. Ensuring data integrity is crucial for making informed decisions, maintaining compliance with regulations, and building trust in the data. Organizations employ data integrity practices and tools to safeguard against data tampering, ensure data consistency, and maintain the overall reliability and quality of their data assets.</a:t>
                      </a:r>
                      <a:endParaRPr sz="1000" u="none" strike="noStrike" cap="none" dirty="0">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2857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79" name="Google Shape;179;p30"/>
          <p:cNvSpPr txBox="1"/>
          <p:nvPr/>
        </p:nvSpPr>
        <p:spPr>
          <a:xfrm>
            <a:off x="65725" y="-19700"/>
            <a:ext cx="7717800" cy="336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700"/>
              <a:buFont typeface="Arial"/>
              <a:buNone/>
            </a:pPr>
            <a:r>
              <a:rPr lang="en" sz="1700" b="1" i="0" u="none" strike="noStrike" cap="none">
                <a:solidFill>
                  <a:schemeClr val="dk1"/>
                </a:solidFill>
                <a:latin typeface="Questrial"/>
                <a:ea typeface="Questrial"/>
                <a:cs typeface="Questrial"/>
                <a:sym typeface="Questrial"/>
              </a:rPr>
              <a:t>Technical Infrastructure Needed to Support the Data Science Organization </a:t>
            </a:r>
            <a:endParaRPr sz="1500" i="0" u="none" strike="noStrike" cap="none">
              <a:solidFill>
                <a:srgbClr val="000000"/>
              </a:solidFill>
              <a:latin typeface="Questrial"/>
              <a:ea typeface="Questrial"/>
              <a:cs typeface="Questrial"/>
              <a:sym typeface="Quest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graphicFrame>
        <p:nvGraphicFramePr>
          <p:cNvPr id="178" name="Google Shape;178;p30"/>
          <p:cNvGraphicFramePr/>
          <p:nvPr>
            <p:extLst>
              <p:ext uri="{D42A27DB-BD31-4B8C-83A1-F6EECF244321}">
                <p14:modId xmlns:p14="http://schemas.microsoft.com/office/powerpoint/2010/main" val="1397681972"/>
              </p:ext>
            </p:extLst>
          </p:nvPr>
        </p:nvGraphicFramePr>
        <p:xfrm>
          <a:off x="232125" y="936650"/>
          <a:ext cx="8753746" cy="3346592"/>
        </p:xfrm>
        <a:graphic>
          <a:graphicData uri="http://schemas.openxmlformats.org/drawingml/2006/table">
            <a:tbl>
              <a:tblPr>
                <a:noFill/>
                <a:tableStyleId>{176FB817-399E-4E18-9760-935D84C4852A}</a:tableStyleId>
              </a:tblPr>
              <a:tblGrid>
                <a:gridCol w="926255">
                  <a:extLst>
                    <a:ext uri="{9D8B030D-6E8A-4147-A177-3AD203B41FA5}">
                      <a16:colId xmlns:a16="http://schemas.microsoft.com/office/drawing/2014/main" val="20000"/>
                    </a:ext>
                  </a:extLst>
                </a:gridCol>
                <a:gridCol w="1108117">
                  <a:extLst>
                    <a:ext uri="{9D8B030D-6E8A-4147-A177-3AD203B41FA5}">
                      <a16:colId xmlns:a16="http://schemas.microsoft.com/office/drawing/2014/main" val="20001"/>
                    </a:ext>
                  </a:extLst>
                </a:gridCol>
                <a:gridCol w="6719374">
                  <a:extLst>
                    <a:ext uri="{9D8B030D-6E8A-4147-A177-3AD203B41FA5}">
                      <a16:colId xmlns:a16="http://schemas.microsoft.com/office/drawing/2014/main" val="20002"/>
                    </a:ext>
                  </a:extLst>
                </a:gridCol>
              </a:tblGrid>
              <a:tr h="1563853">
                <a:tc>
                  <a:txBody>
                    <a:bodyPr/>
                    <a:lstStyle/>
                    <a:p>
                      <a:pPr marL="0" marR="0" lvl="0" indent="0" algn="ctr" rtl="0">
                        <a:lnSpc>
                          <a:spcPct val="115000"/>
                        </a:lnSpc>
                        <a:spcBef>
                          <a:spcPts val="0"/>
                        </a:spcBef>
                        <a:spcAft>
                          <a:spcPts val="0"/>
                        </a:spcAft>
                        <a:buClr>
                          <a:srgbClr val="000000"/>
                        </a:buClr>
                        <a:buSzPts val="1000"/>
                        <a:buFont typeface="Arial"/>
                        <a:buNone/>
                      </a:pPr>
                      <a:r>
                        <a:rPr lang="en" sz="1000" u="none" strike="noStrike" cap="none">
                          <a:latin typeface="Questrial"/>
                          <a:ea typeface="Questrial"/>
                          <a:cs typeface="Questrial"/>
                          <a:sym typeface="Questrial"/>
                        </a:rPr>
                        <a:t>Skills and Capacity</a:t>
                      </a:r>
                      <a:endParaRPr sz="1000" u="none" strike="noStrike" cap="none">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9525" cap="flat" cmpd="sng" algn="ctr">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 sz="1000" u="none" strike="noStrike" cap="none" dirty="0">
                          <a:latin typeface="Questrial"/>
                          <a:ea typeface="Questrial"/>
                          <a:cs typeface="Questrial"/>
                          <a:sym typeface="Questrial"/>
                        </a:rPr>
                        <a:t>Data literacy skills and organizational capacity </a:t>
                      </a:r>
                      <a:endParaRPr sz="1000" u="none" strike="noStrike" cap="none" dirty="0">
                        <a:latin typeface="Questrial"/>
                        <a:ea typeface="Questrial"/>
                        <a:cs typeface="Questrial"/>
                        <a:sym typeface="Questrial"/>
                      </a:endParaRPr>
                    </a:p>
                  </a:txBody>
                  <a:tcPr marL="28575" marR="28575" marT="19050" marB="19050" anchor="ctr">
                    <a:lnL w="9525" cap="flat" cmpd="sng" algn="ctr">
                      <a:solidFill>
                        <a:srgbClr val="D9D9D9"/>
                      </a:solidFill>
                      <a:prstDash val="solid"/>
                      <a:round/>
                      <a:headEnd type="none" w="sm" len="sm"/>
                      <a:tailEnd type="none" w="sm" len="sm"/>
                    </a:lnL>
                    <a:lnR w="9525" cap="flat" cmpd="sng" algn="ctr">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50800" marR="0" lvl="0" indent="0" algn="l" rtl="0">
                        <a:lnSpc>
                          <a:spcPct val="115000"/>
                        </a:lnSpc>
                        <a:spcBef>
                          <a:spcPts val="0"/>
                        </a:spcBef>
                        <a:spcAft>
                          <a:spcPts val="0"/>
                        </a:spcAft>
                        <a:buClr>
                          <a:srgbClr val="000000"/>
                        </a:buClr>
                        <a:buSzPts val="1000"/>
                        <a:buFont typeface="Questrial"/>
                        <a:buNone/>
                      </a:pPr>
                      <a:r>
                        <a:rPr lang="en-US" sz="1000" u="none" strike="noStrike" cap="none" dirty="0">
                          <a:latin typeface="Questrial"/>
                          <a:ea typeface="Questrial"/>
                          <a:cs typeface="Questrial"/>
                          <a:sym typeface="Questrial"/>
                        </a:rPr>
                        <a:t>Data literacy skills involve the ability of individuals within an organization to comprehend and interpret data, including the ability to read, analyze, and communicate insights from data. Organizational capacity refers to the infrastructure, resources, and processes in place to support data-driven decision-making. This includes having the right tools, technologies, and systems to collect, store, analyze, and visualize data, as well as fostering a culture that values data literacy and encourages the use of data in decision-making at all levels of the organization. Developing data literacy skills and enhancing organizational capacity are crucial for leveraging the full potential of data and gaining a competitive advantage in today's data-driven business landscape.</a:t>
                      </a:r>
                      <a:endParaRPr sz="1000" u="none" strike="noStrike" cap="none" dirty="0">
                        <a:latin typeface="Questrial"/>
                        <a:ea typeface="Questrial"/>
                        <a:cs typeface="Questrial"/>
                        <a:sym typeface="Questrial"/>
                      </a:endParaRPr>
                    </a:p>
                  </a:txBody>
                  <a:tcPr marL="28575" marR="28575" marT="19050" marB="19050" anchor="ctr">
                    <a:lnL w="9525" cap="flat" cmpd="sng" algn="ctr">
                      <a:solidFill>
                        <a:srgbClr val="D9D9D9"/>
                      </a:solidFill>
                      <a:prstDash val="solid"/>
                      <a:round/>
                      <a:headEnd type="none" w="sm" len="sm"/>
                      <a:tailEnd type="none" w="sm" len="sm"/>
                    </a:lnL>
                    <a:lnR w="2857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4"/>
                  </a:ext>
                </a:extLst>
              </a:tr>
              <a:tr h="1782739">
                <a:tc>
                  <a:txBody>
                    <a:bodyPr/>
                    <a:lstStyle/>
                    <a:p>
                      <a:pPr marL="0" marR="0" lvl="0" indent="0" algn="ctr" rtl="0">
                        <a:lnSpc>
                          <a:spcPct val="115000"/>
                        </a:lnSpc>
                        <a:spcBef>
                          <a:spcPts val="0"/>
                        </a:spcBef>
                        <a:spcAft>
                          <a:spcPts val="0"/>
                        </a:spcAft>
                        <a:buClr>
                          <a:srgbClr val="000000"/>
                        </a:buClr>
                        <a:buSzPts val="1000"/>
                        <a:buFont typeface="Arial"/>
                        <a:buNone/>
                      </a:pPr>
                      <a:r>
                        <a:rPr lang="en" sz="1000" u="none" strike="noStrike" cap="none" dirty="0">
                          <a:latin typeface="Questrial"/>
                          <a:ea typeface="Questrial"/>
                          <a:cs typeface="Questrial"/>
                          <a:sym typeface="Questrial"/>
                        </a:rPr>
                        <a:t>Support for Machine Learning</a:t>
                      </a:r>
                      <a:endParaRPr sz="1000" u="none" strike="noStrike" cap="none" dirty="0">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28575" cap="flat" cmpd="sng">
                      <a:solidFill>
                        <a:srgbClr val="D9D9D9"/>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00"/>
                        <a:buFont typeface="Arial"/>
                        <a:buNone/>
                      </a:pPr>
                      <a:r>
                        <a:rPr lang="en" sz="1000" u="none" strike="noStrike" cap="none" dirty="0">
                          <a:latin typeface="Questrial"/>
                          <a:ea typeface="Questrial"/>
                          <a:cs typeface="Questrial"/>
                          <a:sym typeface="Questrial"/>
                        </a:rPr>
                        <a:t>Machine learning</a:t>
                      </a:r>
                      <a:endParaRPr sz="1000" u="none" strike="noStrike" cap="none" dirty="0">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28575" cap="flat" cmpd="sng">
                      <a:solidFill>
                        <a:srgbClr val="D9D9D9"/>
                      </a:solidFill>
                      <a:prstDash val="solid"/>
                      <a:round/>
                      <a:headEnd type="none" w="sm" len="sm"/>
                      <a:tailEnd type="none" w="sm" len="sm"/>
                    </a:lnB>
                  </a:tcPr>
                </a:tc>
                <a:tc>
                  <a:txBody>
                    <a:bodyPr/>
                    <a:lstStyle/>
                    <a:p>
                      <a:pPr marL="50800" marR="0" lvl="0" indent="0" algn="l" rtl="0">
                        <a:lnSpc>
                          <a:spcPct val="115000"/>
                        </a:lnSpc>
                        <a:spcBef>
                          <a:spcPts val="0"/>
                        </a:spcBef>
                        <a:spcAft>
                          <a:spcPts val="0"/>
                        </a:spcAft>
                        <a:buClr>
                          <a:srgbClr val="000000"/>
                        </a:buClr>
                        <a:buSzPts val="1000"/>
                        <a:buFont typeface="Questrial"/>
                        <a:buNone/>
                      </a:pPr>
                      <a:r>
                        <a:rPr lang="en-US" sz="1000" u="none" strike="noStrike" cap="none" dirty="0">
                          <a:latin typeface="Questrial"/>
                          <a:ea typeface="Questrial"/>
                          <a:cs typeface="Questrial"/>
                          <a:sym typeface="Questrial"/>
                        </a:rPr>
                        <a:t>Infrastructure, tools, and resources available within an organization to enable the development and deployment of machine learning models. This includes having the necessary computing power, storage, and data processing capabilities to handle large-scale machine learning tasks. It also involves providing access to machine learning frameworks and libraries, as well as skilled data scientists and engineers who can effectively utilize these tools. Additionally, support for machine learning entails establishing processes and workflows for model training, validation, and deployment, as well as ensuring proper monitoring and maintenance of deployed models. By providing robust support for machine learning, organizations can harness the power of artificial intelligence to gain valuable insights, automate processes, and drive innovation.</a:t>
                      </a:r>
                      <a:endParaRPr sz="1000" u="none" strike="noStrike" cap="none" dirty="0">
                        <a:latin typeface="Questrial"/>
                        <a:ea typeface="Questrial"/>
                        <a:cs typeface="Questrial"/>
                        <a:sym typeface="Questrial"/>
                      </a:endParaRPr>
                    </a:p>
                  </a:txBody>
                  <a:tcPr marL="28575" marR="28575" marT="19050" marB="19050" anchor="ctr">
                    <a:lnL w="9525" cap="flat" cmpd="sng">
                      <a:solidFill>
                        <a:srgbClr val="D9D9D9"/>
                      </a:solidFill>
                      <a:prstDash val="solid"/>
                      <a:round/>
                      <a:headEnd type="none" w="sm" len="sm"/>
                      <a:tailEnd type="none" w="sm" len="sm"/>
                    </a:lnL>
                    <a:lnR w="2857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28575" cap="flat" cmpd="sng">
                      <a:solidFill>
                        <a:srgbClr val="D9D9D9"/>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79" name="Google Shape;179;p30"/>
          <p:cNvSpPr txBox="1"/>
          <p:nvPr/>
        </p:nvSpPr>
        <p:spPr>
          <a:xfrm>
            <a:off x="65725" y="-19700"/>
            <a:ext cx="7717800" cy="336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700"/>
              <a:buFont typeface="Arial"/>
              <a:buNone/>
            </a:pPr>
            <a:r>
              <a:rPr lang="en" sz="1700" b="1" i="0" u="none" strike="noStrike" cap="none">
                <a:solidFill>
                  <a:schemeClr val="dk1"/>
                </a:solidFill>
                <a:latin typeface="Questrial"/>
                <a:ea typeface="Questrial"/>
                <a:cs typeface="Questrial"/>
                <a:sym typeface="Questrial"/>
              </a:rPr>
              <a:t>Technical Infrastructure Needed to Support the Data Science Organization </a:t>
            </a:r>
            <a:endParaRPr sz="1500" i="0" u="none" strike="noStrike" cap="none">
              <a:solidFill>
                <a:srgbClr val="000000"/>
              </a:solidFill>
              <a:latin typeface="Questrial"/>
              <a:ea typeface="Questrial"/>
              <a:cs typeface="Questrial"/>
              <a:sym typeface="Questrial"/>
            </a:endParaRPr>
          </a:p>
        </p:txBody>
      </p:sp>
    </p:spTree>
    <p:extLst>
      <p:ext uri="{BB962C8B-B14F-4D97-AF65-F5344CB8AC3E}">
        <p14:creationId xmlns:p14="http://schemas.microsoft.com/office/powerpoint/2010/main" val="1008556361"/>
      </p:ext>
    </p:extLst>
  </p:cSld>
  <p:clrMapOvr>
    <a:masterClrMapping/>
  </p:clrMapOvr>
</p:sld>
</file>

<file path=ppt/theme/theme1.xml><?xml version="1.0" encoding="utf-8"?>
<a:theme xmlns:a="http://schemas.openxmlformats.org/drawingml/2006/main" name="DSBL">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1365</TotalTime>
  <Words>1708</Words>
  <Application>Microsoft Office PowerPoint</Application>
  <PresentationFormat>On-screen Show (16:9)</PresentationFormat>
  <Paragraphs>193</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Raleway</vt:lpstr>
      <vt:lpstr>Questrial</vt:lpstr>
      <vt:lpstr>Arial</vt:lpstr>
      <vt:lpstr>Lato</vt:lpstr>
      <vt:lpstr>DSBL</vt:lpstr>
      <vt:lpstr>Optimizing E-commerce Performance through Data-driven Insights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Optimizing E-commerce Performance through Data-driven Insights</dc:title>
  <dc:creator>Richard Kanagaraj</dc:creator>
  <cp:lastModifiedBy>Richard Kanagaraj</cp:lastModifiedBy>
  <cp:revision>6</cp:revision>
  <dcterms:modified xsi:type="dcterms:W3CDTF">2023-07-19T10:56:08Z</dcterms:modified>
</cp:coreProperties>
</file>